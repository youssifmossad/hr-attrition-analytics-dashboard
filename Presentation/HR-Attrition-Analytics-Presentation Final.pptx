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embeddedFontLst>
    <p:embeddedFont>
      <p:font typeface="Calibri" panose="020F0502020204030204" pitchFamily="34" charset="0"/>
      <p:regular r:id="rId14"/>
      <p:bold r:id="rId15"/>
    </p:embeddedFont>
    <p:embeddedFont>
      <p:font typeface="Epilogue" panose="020B0604020202020204" charset="0"/>
      <p:regular r:id="rId16"/>
    </p:embeddedFont>
    <p:embeddedFont>
      <p:font typeface="Epilogue Bold" panose="020B0604020202020204" charset="0"/>
      <p:regular r:id="rId17"/>
    </p:embeddedFont>
    <p:embeddedFont>
      <p:font typeface="Fraunces Medium" panose="020B0604020202020204"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E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4" d="100"/>
          <a:sy n="94" d="100"/>
        </p:scale>
        <p:origin x="6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808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A8AFCC"/>
          </a:solidFill>
          <a:ln/>
        </p:spPr>
      </p:sp>
      <p:sp>
        <p:nvSpPr>
          <p:cNvPr id="3" name="Shape 1"/>
          <p:cNvSpPr/>
          <p:nvPr/>
        </p:nvSpPr>
        <p:spPr>
          <a:xfrm>
            <a:off x="0" y="0"/>
            <a:ext cx="9144000" cy="51435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master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A8AFCC"/>
          </a:solidFill>
          <a:ln/>
        </p:spPr>
      </p:sp>
      <p:sp>
        <p:nvSpPr>
          <p:cNvPr id="3" name="Shape 1"/>
          <p:cNvSpPr/>
          <p:nvPr/>
        </p:nvSpPr>
        <p:spPr>
          <a:xfrm>
            <a:off x="0" y="0"/>
            <a:ext cx="9144000" cy="5143500"/>
          </a:xfrm>
          <a:prstGeom prst="rect">
            <a:avLst/>
          </a:prstGeom>
          <a:solidFill>
            <a:srgbClr val="080E26"/>
          </a:solidFill>
          <a:ln/>
        </p:spPr>
      </p:sp>
      <p:pic>
        <p:nvPicPr>
          <p:cNvPr id="4"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5" name="Shape 2"/>
          <p:cNvSpPr/>
          <p:nvPr/>
        </p:nvSpPr>
        <p:spPr>
          <a:xfrm>
            <a:off x="0" y="0"/>
            <a:ext cx="9144000" cy="5143500"/>
          </a:xfrm>
          <a:prstGeom prst="rect">
            <a:avLst/>
          </a:prstGeom>
          <a:solidFill>
            <a:srgbClr val="080E26">
              <a:alpha val="85000"/>
            </a:srgbClr>
          </a:solidFill>
          <a:ln/>
        </p:spPr>
      </p:sp>
      <p:pic>
        <p:nvPicPr>
          <p:cNvPr id="6"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80E26"/>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3.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5.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827907"/>
            <a:ext cx="4722763" cy="775097"/>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FFFFFF"/>
                </a:solidFill>
                <a:latin typeface="Fraunces Medium" pitchFamily="34" charset="0"/>
                <a:ea typeface="Fraunces Medium" pitchFamily="34" charset="-122"/>
                <a:cs typeface="Fraunces Medium" pitchFamily="34" charset="-120"/>
              </a:rPr>
              <a:t>HR Attrition Analytics Dashboard Presentation</a:t>
            </a:r>
            <a:endParaRPr lang="en-US" sz="2400" dirty="0"/>
          </a:p>
        </p:txBody>
      </p:sp>
      <p:sp>
        <p:nvSpPr>
          <p:cNvPr id="4" name="Text 1"/>
          <p:cNvSpPr/>
          <p:nvPr/>
        </p:nvSpPr>
        <p:spPr>
          <a:xfrm>
            <a:off x="496119" y="2789039"/>
            <a:ext cx="5179963" cy="198462"/>
          </a:xfrm>
          <a:prstGeom prst="rect">
            <a:avLst/>
          </a:prstGeom>
          <a:noFill/>
          <a:ln/>
        </p:spPr>
        <p:txBody>
          <a:bodyPr wrap="none" lIns="0" tIns="0" rIns="0" bIns="0" rtlCol="0" anchor="t"/>
          <a:lstStyle/>
          <a:p>
            <a:pPr marL="0" indent="0" algn="l">
              <a:lnSpc>
                <a:spcPct val="133000"/>
              </a:lnSpc>
              <a:buNone/>
            </a:pPr>
            <a:r>
              <a:rPr lang="en-US" sz="950" dirty="0">
                <a:solidFill>
                  <a:srgbClr val="EBECEF"/>
                </a:solidFill>
                <a:latin typeface="Epilogue" pitchFamily="34" charset="0"/>
                <a:ea typeface="Epilogue" pitchFamily="34" charset="-122"/>
                <a:cs typeface="Epilogue" pitchFamily="34" charset="-120"/>
              </a:rPr>
              <a:t>Executive Business Insights</a:t>
            </a:r>
            <a:endParaRPr lang="en-US" sz="950" dirty="0"/>
          </a:p>
        </p:txBody>
      </p:sp>
      <p:sp>
        <p:nvSpPr>
          <p:cNvPr id="5" name="Shape 2"/>
          <p:cNvSpPr/>
          <p:nvPr/>
        </p:nvSpPr>
        <p:spPr>
          <a:xfrm>
            <a:off x="496119" y="3127028"/>
            <a:ext cx="576560" cy="188565"/>
          </a:xfrm>
          <a:prstGeom prst="roundRect">
            <a:avLst>
              <a:gd name="adj" fmla="val 22104"/>
            </a:avLst>
          </a:prstGeom>
          <a:solidFill>
            <a:srgbClr val="181E34"/>
          </a:solidFill>
          <a:ln/>
        </p:spPr>
      </p:sp>
      <p:sp>
        <p:nvSpPr>
          <p:cNvPr id="6" name="Text 3"/>
          <p:cNvSpPr/>
          <p:nvPr/>
        </p:nvSpPr>
        <p:spPr>
          <a:xfrm>
            <a:off x="570533" y="3164235"/>
            <a:ext cx="884932" cy="114151"/>
          </a:xfrm>
          <a:prstGeom prst="rect">
            <a:avLst/>
          </a:prstGeom>
          <a:noFill/>
          <a:ln/>
        </p:spPr>
        <p:txBody>
          <a:bodyPr wrap="none" lIns="0" tIns="0" rIns="0" bIns="0" rtlCol="0" anchor="t"/>
          <a:lstStyle/>
          <a:p>
            <a:pPr marL="0" indent="0" algn="l">
              <a:lnSpc>
                <a:spcPct val="96000"/>
              </a:lnSpc>
              <a:buNone/>
            </a:pPr>
            <a:r>
              <a:rPr lang="en-US" sz="750" dirty="0">
                <a:solidFill>
                  <a:srgbClr val="EBECEF"/>
                </a:solidFill>
                <a:latin typeface="Epilogue" pitchFamily="34" charset="0"/>
                <a:ea typeface="Epilogue" pitchFamily="34" charset="-122"/>
                <a:cs typeface="Epilogue" pitchFamily="34" charset="-120"/>
              </a:rPr>
              <a:t>POWER BI</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371823"/>
            <a:ext cx="4722763" cy="387548"/>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Fraunces Medium" pitchFamily="34" charset="0"/>
                <a:ea typeface="Fraunces Medium" pitchFamily="34" charset="-122"/>
                <a:cs typeface="Fraunces Medium" pitchFamily="34" charset="-120"/>
              </a:rPr>
              <a:t>The Business Challenge</a:t>
            </a:r>
            <a:endParaRPr lang="en-US" sz="2400" dirty="0"/>
          </a:p>
        </p:txBody>
      </p:sp>
      <p:sp>
        <p:nvSpPr>
          <p:cNvPr id="4" name="Text 1"/>
          <p:cNvSpPr/>
          <p:nvPr/>
        </p:nvSpPr>
        <p:spPr>
          <a:xfrm>
            <a:off x="496119" y="1945407"/>
            <a:ext cx="4722763"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BECEF"/>
                </a:solidFill>
                <a:latin typeface="Epilogue" pitchFamily="34" charset="0"/>
                <a:ea typeface="Epilogue" pitchFamily="34" charset="-122"/>
                <a:cs typeface="Epilogue" pitchFamily="34" charset="-120"/>
              </a:rPr>
              <a:t>Employee attrition is one of the most costly workforce challenges organizations face — driving up recruitment costs, disrupting productivity, and eroding institutional knowledge. For IBM, understanding </a:t>
            </a:r>
            <a:r>
              <a:rPr lang="en-US" sz="950" i="1" dirty="0">
                <a:solidFill>
                  <a:srgbClr val="EBECEF"/>
                </a:solidFill>
                <a:latin typeface="Epilogue" pitchFamily="34" charset="0"/>
                <a:ea typeface="Epilogue" pitchFamily="34" charset="-122"/>
                <a:cs typeface="Epilogue" pitchFamily="34" charset="-120"/>
              </a:rPr>
              <a:t>who</a:t>
            </a:r>
            <a:r>
              <a:rPr lang="en-US" sz="950" dirty="0">
                <a:solidFill>
                  <a:srgbClr val="EBECEF"/>
                </a:solidFill>
                <a:latin typeface="Epilogue" pitchFamily="34" charset="0"/>
                <a:ea typeface="Epilogue" pitchFamily="34" charset="-122"/>
                <a:cs typeface="Epilogue" pitchFamily="34" charset="-120"/>
              </a:rPr>
              <a:t> is leaving and </a:t>
            </a:r>
            <a:r>
              <a:rPr lang="en-US" sz="950" i="1" dirty="0">
                <a:solidFill>
                  <a:srgbClr val="EBECEF"/>
                </a:solidFill>
                <a:latin typeface="Epilogue" pitchFamily="34" charset="0"/>
                <a:ea typeface="Epilogue" pitchFamily="34" charset="-122"/>
                <a:cs typeface="Epilogue" pitchFamily="34" charset="-120"/>
              </a:rPr>
              <a:t>why</a:t>
            </a:r>
            <a:r>
              <a:rPr lang="en-US" sz="950" dirty="0">
                <a:solidFill>
                  <a:srgbClr val="EBECEF"/>
                </a:solidFill>
                <a:latin typeface="Epilogue" pitchFamily="34" charset="0"/>
                <a:ea typeface="Epilogue" pitchFamily="34" charset="-122"/>
                <a:cs typeface="Epilogue" pitchFamily="34" charset="-120"/>
              </a:rPr>
              <a:t> is essential to maintaining a competitive, engaged workforce.</a:t>
            </a:r>
            <a:endParaRPr lang="en-US" sz="950" dirty="0"/>
          </a:p>
        </p:txBody>
      </p:sp>
      <p:sp>
        <p:nvSpPr>
          <p:cNvPr id="5" name="Shape 2"/>
          <p:cNvSpPr/>
          <p:nvPr/>
        </p:nvSpPr>
        <p:spPr>
          <a:xfrm>
            <a:off x="496119" y="2878782"/>
            <a:ext cx="4722763" cy="892894"/>
          </a:xfrm>
          <a:prstGeom prst="roundRect">
            <a:avLst>
              <a:gd name="adj" fmla="val 5835"/>
            </a:avLst>
          </a:prstGeom>
          <a:solidFill>
            <a:srgbClr val="283157"/>
          </a:solidFill>
          <a:ln/>
        </p:spPr>
      </p:sp>
      <p:pic>
        <p:nvPicPr>
          <p:cNvPr id="6" name="Image 1" descr="preencoded.png"/>
          <p:cNvPicPr>
            <a:picLocks noChangeAspect="1"/>
          </p:cNvPicPr>
          <p:nvPr/>
        </p:nvPicPr>
        <p:blipFill>
          <a:blip r:embed="rId4"/>
          <a:stretch>
            <a:fillRect/>
          </a:stretch>
        </p:blipFill>
        <p:spPr>
          <a:xfrm>
            <a:off x="620092" y="3058567"/>
            <a:ext cx="155004" cy="123974"/>
          </a:xfrm>
          <a:prstGeom prst="rect">
            <a:avLst/>
          </a:prstGeom>
        </p:spPr>
      </p:pic>
      <p:sp>
        <p:nvSpPr>
          <p:cNvPr id="7" name="Text 3"/>
          <p:cNvSpPr/>
          <p:nvPr/>
        </p:nvSpPr>
        <p:spPr>
          <a:xfrm>
            <a:off x="899071" y="3033713"/>
            <a:ext cx="4195837" cy="595387"/>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FFFFFF"/>
                </a:solidFill>
                <a:latin typeface="Epilogue Bold" pitchFamily="34" charset="0"/>
                <a:ea typeface="Epilogue Bold" pitchFamily="34" charset="-122"/>
                <a:cs typeface="Epilogue Bold" pitchFamily="34" charset="-120"/>
              </a:rPr>
              <a:t>Project Objective:</a:t>
            </a:r>
            <a:r>
              <a:rPr lang="en-US" sz="950" dirty="0">
                <a:solidFill>
                  <a:srgbClr val="FFFFFF"/>
                </a:solidFill>
                <a:latin typeface="Epilogue" pitchFamily="34" charset="0"/>
                <a:ea typeface="Epilogue" pitchFamily="34" charset="-122"/>
                <a:cs typeface="Epilogue" pitchFamily="34" charset="-120"/>
              </a:rPr>
              <a:t> Build an interactive Power BI dashboard that enables leadership to monitor attrition trends, identify high-risk employee segments, and take proactive, data-driven action.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496119" y="397222"/>
            <a:ext cx="8151763" cy="387548"/>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Fraunces Medium" pitchFamily="34" charset="0"/>
                <a:ea typeface="Fraunces Medium" pitchFamily="34" charset="-122"/>
                <a:cs typeface="Fraunces Medium" pitchFamily="34" charset="-120"/>
              </a:rPr>
              <a:t>Dashboard Overview</a:t>
            </a:r>
            <a:endParaRPr lang="en-US" sz="2400" dirty="0"/>
          </a:p>
        </p:txBody>
      </p:sp>
      <p:pic>
        <p:nvPicPr>
          <p:cNvPr id="3" name="Image 0" descr="preencoded.png"/>
          <p:cNvPicPr>
            <a:picLocks noChangeAspect="1"/>
          </p:cNvPicPr>
          <p:nvPr/>
        </p:nvPicPr>
        <p:blipFill>
          <a:blip r:embed="rId3"/>
          <a:stretch>
            <a:fillRect/>
          </a:stretch>
        </p:blipFill>
        <p:spPr>
          <a:xfrm>
            <a:off x="496119" y="1110332"/>
            <a:ext cx="4347270" cy="2415108"/>
          </a:xfrm>
          <a:prstGeom prst="rect">
            <a:avLst/>
          </a:prstGeom>
        </p:spPr>
      </p:pic>
      <p:sp>
        <p:nvSpPr>
          <p:cNvPr id="4" name="Text 1"/>
          <p:cNvSpPr/>
          <p:nvPr/>
        </p:nvSpPr>
        <p:spPr>
          <a:xfrm>
            <a:off x="5150718" y="1765920"/>
            <a:ext cx="3501851" cy="1103933"/>
          </a:xfrm>
          <a:prstGeom prst="rect">
            <a:avLst/>
          </a:prstGeom>
          <a:noFill/>
          <a:ln/>
        </p:spPr>
        <p:txBody>
          <a:bodyPr wrap="square" lIns="0" tIns="0" rIns="0" bIns="0" rtlCol="0" anchor="t">
            <a:normAutofit/>
          </a:bodyPr>
          <a:lstStyle/>
          <a:p>
            <a:pPr marL="0" indent="0" algn="l">
              <a:lnSpc>
                <a:spcPct val="133000"/>
              </a:lnSpc>
              <a:spcAft>
                <a:spcPts val="850"/>
              </a:spcAft>
              <a:buNone/>
            </a:pPr>
            <a:r>
              <a:rPr lang="en-US" sz="950" dirty="0">
                <a:solidFill>
                  <a:srgbClr val="EBECEF"/>
                </a:solidFill>
                <a:latin typeface="Epilogue" pitchFamily="34" charset="0"/>
                <a:ea typeface="Epilogue" pitchFamily="34" charset="-122"/>
                <a:cs typeface="Epilogue" pitchFamily="34" charset="-120"/>
              </a:rPr>
              <a:t>The dashboard is structured across two interactive views, designed for executive-level consumption and drill-down analysis.</a:t>
            </a:r>
            <a:endParaRPr lang="en-US" sz="950" dirty="0"/>
          </a:p>
          <a:p>
            <a:pPr marL="0" indent="0" algn="l">
              <a:lnSpc>
                <a:spcPct val="133000"/>
              </a:lnSpc>
              <a:buNone/>
            </a:pPr>
            <a:r>
              <a:rPr lang="en-US" sz="950" dirty="0">
                <a:solidFill>
                  <a:srgbClr val="EBECEF"/>
                </a:solidFill>
                <a:latin typeface="Epilogue" pitchFamily="34" charset="0"/>
                <a:ea typeface="Epilogue" pitchFamily="34" charset="-122"/>
                <a:cs typeface="Epilogue" pitchFamily="34" charset="-120"/>
              </a:rPr>
              <a:t>Interactive filters allow stakeholders to drill into specific departments, job roles, and demographics in real time.</a:t>
            </a:r>
            <a:endParaRPr lang="en-US" sz="95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6119" y="3804493"/>
            <a:ext cx="4013895" cy="941710"/>
          </a:xfrm>
          <a:prstGeom prst="rect">
            <a:avLst/>
          </a:prstGeom>
        </p:spPr>
      </p:pic>
      <p:sp>
        <p:nvSpPr>
          <p:cNvPr id="6" name="Text 2"/>
          <p:cNvSpPr/>
          <p:nvPr/>
        </p:nvSpPr>
        <p:spPr>
          <a:xfrm>
            <a:off x="691530" y="3942755"/>
            <a:ext cx="3680222" cy="193849"/>
          </a:xfrm>
          <a:prstGeom prst="rect">
            <a:avLst/>
          </a:prstGeom>
          <a:noFill/>
          <a:ln/>
        </p:spPr>
        <p:txBody>
          <a:bodyPr wrap="none" lIns="0" tIns="0" rIns="0" bIns="0" rtlCol="0" anchor="t"/>
          <a:lstStyle/>
          <a:p>
            <a:pPr marL="0" indent="0" algn="l">
              <a:lnSpc>
                <a:spcPct val="104000"/>
              </a:lnSpc>
              <a:buNone/>
            </a:pPr>
            <a:r>
              <a:rPr lang="en-US" sz="1200" dirty="0">
                <a:solidFill>
                  <a:srgbClr val="EBECEF"/>
                </a:solidFill>
                <a:latin typeface="Fraunces Medium" pitchFamily="34" charset="0"/>
                <a:ea typeface="Fraunces Medium" pitchFamily="34" charset="-122"/>
                <a:cs typeface="Fraunces Medium" pitchFamily="34" charset="-120"/>
              </a:rPr>
              <a:t>Executive Summary</a:t>
            </a:r>
            <a:endParaRPr lang="en-US" sz="1200" dirty="0"/>
          </a:p>
        </p:txBody>
      </p:sp>
      <p:sp>
        <p:nvSpPr>
          <p:cNvPr id="7" name="Text 3"/>
          <p:cNvSpPr/>
          <p:nvPr/>
        </p:nvSpPr>
        <p:spPr>
          <a:xfrm>
            <a:off x="691530" y="4211017"/>
            <a:ext cx="368022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BECEF"/>
                </a:solidFill>
                <a:latin typeface="Epilogue" pitchFamily="34" charset="0"/>
                <a:ea typeface="Epilogue" pitchFamily="34" charset="-122"/>
                <a:cs typeface="Epilogue" pitchFamily="34" charset="-120"/>
              </a:rPr>
              <a:t>High-level KPIs, attrition rates, and workforce trends at a glance.</a:t>
            </a:r>
            <a:endParaRPr lang="en-US" sz="950" dirty="0"/>
          </a:p>
        </p:txBody>
      </p:sp>
      <p:pic>
        <p:nvPicPr>
          <p:cNvPr id="8"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33987" y="3804493"/>
            <a:ext cx="4013895" cy="941710"/>
          </a:xfrm>
          <a:prstGeom prst="rect">
            <a:avLst/>
          </a:prstGeom>
        </p:spPr>
      </p:pic>
      <p:sp>
        <p:nvSpPr>
          <p:cNvPr id="9" name="Text 4"/>
          <p:cNvSpPr/>
          <p:nvPr/>
        </p:nvSpPr>
        <p:spPr>
          <a:xfrm>
            <a:off x="4829398" y="3942755"/>
            <a:ext cx="3680222" cy="193849"/>
          </a:xfrm>
          <a:prstGeom prst="rect">
            <a:avLst/>
          </a:prstGeom>
          <a:noFill/>
          <a:ln/>
        </p:spPr>
        <p:txBody>
          <a:bodyPr wrap="none" lIns="0" tIns="0" rIns="0" bIns="0" rtlCol="0" anchor="t"/>
          <a:lstStyle/>
          <a:p>
            <a:pPr marL="0" indent="0" algn="l">
              <a:lnSpc>
                <a:spcPct val="104000"/>
              </a:lnSpc>
              <a:buNone/>
            </a:pPr>
            <a:r>
              <a:rPr lang="en-US" sz="1200" dirty="0">
                <a:solidFill>
                  <a:srgbClr val="EBECEF"/>
                </a:solidFill>
                <a:latin typeface="Fraunces Medium" pitchFamily="34" charset="0"/>
                <a:ea typeface="Fraunces Medium" pitchFamily="34" charset="-122"/>
                <a:cs typeface="Fraunces Medium" pitchFamily="34" charset="-120"/>
              </a:rPr>
              <a:t>Employee Attrition Risk Analysis</a:t>
            </a:r>
            <a:endParaRPr lang="en-US" sz="1200" dirty="0"/>
          </a:p>
        </p:txBody>
      </p:sp>
      <p:sp>
        <p:nvSpPr>
          <p:cNvPr id="10" name="Text 5"/>
          <p:cNvSpPr/>
          <p:nvPr/>
        </p:nvSpPr>
        <p:spPr>
          <a:xfrm>
            <a:off x="4829398" y="4211017"/>
            <a:ext cx="368022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BECEF"/>
                </a:solidFill>
                <a:latin typeface="Epilogue" pitchFamily="34" charset="0"/>
                <a:ea typeface="Epilogue" pitchFamily="34" charset="-122"/>
                <a:cs typeface="Epilogue" pitchFamily="34" charset="-120"/>
              </a:rPr>
              <a:t>Segmented risk breakdowns by department, role, age, and salary band.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sp>
        <p:nvSpPr>
          <p:cNvPr id="2" name="Text 0"/>
          <p:cNvSpPr/>
          <p:nvPr/>
        </p:nvSpPr>
        <p:spPr>
          <a:xfrm>
            <a:off x="496119" y="923776"/>
            <a:ext cx="8151763" cy="387548"/>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Fraunces Medium" pitchFamily="34" charset="0"/>
                <a:ea typeface="Fraunces Medium" pitchFamily="34" charset="-122"/>
                <a:cs typeface="Fraunces Medium" pitchFamily="34" charset="-120"/>
              </a:rPr>
              <a:t>Executive Summary — Key KPIs</a:t>
            </a:r>
            <a:endParaRPr lang="en-US" sz="2400" dirty="0"/>
          </a:p>
        </p:txBody>
      </p:sp>
      <p:sp>
        <p:nvSpPr>
          <p:cNvPr id="3" name="Text 1"/>
          <p:cNvSpPr/>
          <p:nvPr/>
        </p:nvSpPr>
        <p:spPr>
          <a:xfrm>
            <a:off x="496119" y="1559347"/>
            <a:ext cx="3998342" cy="409352"/>
          </a:xfrm>
          <a:prstGeom prst="rect">
            <a:avLst/>
          </a:prstGeom>
          <a:noFill/>
          <a:ln/>
        </p:spPr>
        <p:txBody>
          <a:bodyPr wrap="none" lIns="0" tIns="0" rIns="0" bIns="0" rtlCol="0" anchor="t"/>
          <a:lstStyle/>
          <a:p>
            <a:pPr marL="0" indent="0" algn="ctr">
              <a:lnSpc>
                <a:spcPct val="83000"/>
              </a:lnSpc>
              <a:buNone/>
            </a:pPr>
            <a:r>
              <a:rPr lang="en-US" sz="3200" dirty="0">
                <a:solidFill>
                  <a:srgbClr val="EBECEF"/>
                </a:solidFill>
                <a:latin typeface="Fraunces Medium" pitchFamily="34" charset="0"/>
                <a:ea typeface="Fraunces Medium" pitchFamily="34" charset="-122"/>
                <a:cs typeface="Fraunces Medium" pitchFamily="34" charset="-120"/>
              </a:rPr>
              <a:t>1,470</a:t>
            </a:r>
            <a:endParaRPr lang="en-US" sz="3200" dirty="0"/>
          </a:p>
        </p:txBody>
      </p:sp>
      <p:sp>
        <p:nvSpPr>
          <p:cNvPr id="4" name="Text 2"/>
          <p:cNvSpPr/>
          <p:nvPr/>
        </p:nvSpPr>
        <p:spPr>
          <a:xfrm>
            <a:off x="496119" y="2123703"/>
            <a:ext cx="3998342" cy="193849"/>
          </a:xfrm>
          <a:prstGeom prst="rect">
            <a:avLst/>
          </a:prstGeom>
          <a:noFill/>
          <a:ln/>
        </p:spPr>
        <p:txBody>
          <a:bodyPr wrap="none" lIns="0" tIns="0" rIns="0" bIns="0" rtlCol="0" anchor="t"/>
          <a:lstStyle/>
          <a:p>
            <a:pPr marL="0" indent="0" algn="ctr">
              <a:lnSpc>
                <a:spcPct val="104000"/>
              </a:lnSpc>
              <a:buNone/>
            </a:pPr>
            <a:r>
              <a:rPr lang="en-US" sz="1200" dirty="0">
                <a:solidFill>
                  <a:srgbClr val="EBECEF"/>
                </a:solidFill>
                <a:latin typeface="Fraunces Medium" pitchFamily="34" charset="0"/>
                <a:ea typeface="Fraunces Medium" pitchFamily="34" charset="-122"/>
                <a:cs typeface="Fraunces Medium" pitchFamily="34" charset="-120"/>
              </a:rPr>
              <a:t>Total Employees</a:t>
            </a:r>
            <a:endParaRPr lang="en-US" sz="1200" dirty="0"/>
          </a:p>
        </p:txBody>
      </p:sp>
      <p:sp>
        <p:nvSpPr>
          <p:cNvPr id="5" name="Text 3"/>
          <p:cNvSpPr/>
          <p:nvPr/>
        </p:nvSpPr>
        <p:spPr>
          <a:xfrm>
            <a:off x="4649465" y="1559347"/>
            <a:ext cx="3998416" cy="409352"/>
          </a:xfrm>
          <a:prstGeom prst="rect">
            <a:avLst/>
          </a:prstGeom>
          <a:noFill/>
          <a:ln/>
        </p:spPr>
        <p:txBody>
          <a:bodyPr wrap="none" lIns="0" tIns="0" rIns="0" bIns="0" rtlCol="0" anchor="t"/>
          <a:lstStyle/>
          <a:p>
            <a:pPr marL="0" indent="0" algn="ctr">
              <a:lnSpc>
                <a:spcPct val="83000"/>
              </a:lnSpc>
              <a:buNone/>
            </a:pPr>
            <a:r>
              <a:rPr lang="en-US" sz="3200" dirty="0">
                <a:solidFill>
                  <a:srgbClr val="EBECEF"/>
                </a:solidFill>
                <a:latin typeface="Fraunces Medium" pitchFamily="34" charset="0"/>
                <a:ea typeface="Fraunces Medium" pitchFamily="34" charset="-122"/>
                <a:cs typeface="Fraunces Medium" pitchFamily="34" charset="-120"/>
              </a:rPr>
              <a:t>237</a:t>
            </a:r>
            <a:endParaRPr lang="en-US" sz="3200" dirty="0"/>
          </a:p>
        </p:txBody>
      </p:sp>
      <p:sp>
        <p:nvSpPr>
          <p:cNvPr id="6" name="Text 4"/>
          <p:cNvSpPr/>
          <p:nvPr/>
        </p:nvSpPr>
        <p:spPr>
          <a:xfrm>
            <a:off x="4649465" y="2123703"/>
            <a:ext cx="3998416" cy="193849"/>
          </a:xfrm>
          <a:prstGeom prst="rect">
            <a:avLst/>
          </a:prstGeom>
          <a:noFill/>
          <a:ln/>
        </p:spPr>
        <p:txBody>
          <a:bodyPr wrap="none" lIns="0" tIns="0" rIns="0" bIns="0" rtlCol="0" anchor="t"/>
          <a:lstStyle/>
          <a:p>
            <a:pPr marL="0" indent="0" algn="ctr">
              <a:lnSpc>
                <a:spcPct val="104000"/>
              </a:lnSpc>
              <a:buNone/>
            </a:pPr>
            <a:r>
              <a:rPr lang="en-US" sz="1200" dirty="0">
                <a:solidFill>
                  <a:srgbClr val="EBECEF"/>
                </a:solidFill>
                <a:latin typeface="Fraunces Medium" pitchFamily="34" charset="0"/>
                <a:ea typeface="Fraunces Medium" pitchFamily="34" charset="-122"/>
                <a:cs typeface="Fraunces Medium" pitchFamily="34" charset="-120"/>
              </a:rPr>
              <a:t>Employees Left</a:t>
            </a:r>
            <a:endParaRPr lang="en-US" sz="1200" dirty="0"/>
          </a:p>
        </p:txBody>
      </p:sp>
      <p:sp>
        <p:nvSpPr>
          <p:cNvPr id="7" name="Text 5"/>
          <p:cNvSpPr/>
          <p:nvPr/>
        </p:nvSpPr>
        <p:spPr>
          <a:xfrm>
            <a:off x="496119" y="2627561"/>
            <a:ext cx="3998342" cy="409352"/>
          </a:xfrm>
          <a:prstGeom prst="rect">
            <a:avLst/>
          </a:prstGeom>
          <a:noFill/>
          <a:ln/>
        </p:spPr>
        <p:txBody>
          <a:bodyPr wrap="none" lIns="0" tIns="0" rIns="0" bIns="0" rtlCol="0" anchor="t"/>
          <a:lstStyle/>
          <a:p>
            <a:pPr marL="0" indent="0" algn="ctr">
              <a:lnSpc>
                <a:spcPct val="83000"/>
              </a:lnSpc>
              <a:buNone/>
            </a:pPr>
            <a:r>
              <a:rPr lang="en-US" sz="3200" dirty="0">
                <a:solidFill>
                  <a:srgbClr val="EBECEF"/>
                </a:solidFill>
                <a:latin typeface="Fraunces Medium" pitchFamily="34" charset="0"/>
                <a:ea typeface="Fraunces Medium" pitchFamily="34" charset="-122"/>
                <a:cs typeface="Fraunces Medium" pitchFamily="34" charset="-120"/>
              </a:rPr>
              <a:t>16.1%</a:t>
            </a:r>
            <a:endParaRPr lang="en-US" sz="3200" dirty="0"/>
          </a:p>
        </p:txBody>
      </p:sp>
      <p:sp>
        <p:nvSpPr>
          <p:cNvPr id="8" name="Text 6"/>
          <p:cNvSpPr/>
          <p:nvPr/>
        </p:nvSpPr>
        <p:spPr>
          <a:xfrm>
            <a:off x="496119" y="3191917"/>
            <a:ext cx="3998342" cy="193849"/>
          </a:xfrm>
          <a:prstGeom prst="rect">
            <a:avLst/>
          </a:prstGeom>
          <a:noFill/>
          <a:ln/>
        </p:spPr>
        <p:txBody>
          <a:bodyPr wrap="none" lIns="0" tIns="0" rIns="0" bIns="0" rtlCol="0" anchor="t"/>
          <a:lstStyle/>
          <a:p>
            <a:pPr marL="0" indent="0" algn="ctr">
              <a:lnSpc>
                <a:spcPct val="104000"/>
              </a:lnSpc>
              <a:buNone/>
            </a:pPr>
            <a:r>
              <a:rPr lang="en-US" sz="1200" dirty="0">
                <a:solidFill>
                  <a:srgbClr val="EBECEF"/>
                </a:solidFill>
                <a:latin typeface="Fraunces Medium" pitchFamily="34" charset="0"/>
                <a:ea typeface="Fraunces Medium" pitchFamily="34" charset="-122"/>
                <a:cs typeface="Fraunces Medium" pitchFamily="34" charset="-120"/>
              </a:rPr>
              <a:t>Attrition Rate</a:t>
            </a:r>
            <a:endParaRPr lang="en-US" sz="1200" dirty="0"/>
          </a:p>
        </p:txBody>
      </p:sp>
      <p:sp>
        <p:nvSpPr>
          <p:cNvPr id="9" name="Text 7"/>
          <p:cNvSpPr/>
          <p:nvPr/>
        </p:nvSpPr>
        <p:spPr>
          <a:xfrm>
            <a:off x="4649465" y="2627561"/>
            <a:ext cx="3998416" cy="409352"/>
          </a:xfrm>
          <a:prstGeom prst="rect">
            <a:avLst/>
          </a:prstGeom>
          <a:noFill/>
          <a:ln/>
        </p:spPr>
        <p:txBody>
          <a:bodyPr wrap="none" lIns="0" tIns="0" rIns="0" bIns="0" rtlCol="0" anchor="t"/>
          <a:lstStyle/>
          <a:p>
            <a:pPr marL="0" indent="0" algn="ctr">
              <a:lnSpc>
                <a:spcPct val="83000"/>
              </a:lnSpc>
              <a:buNone/>
            </a:pPr>
            <a:r>
              <a:rPr lang="en-US" sz="3200" dirty="0">
                <a:solidFill>
                  <a:srgbClr val="EBECEF"/>
                </a:solidFill>
                <a:latin typeface="Fraunces Medium" pitchFamily="34" charset="0"/>
                <a:ea typeface="Fraunces Medium" pitchFamily="34" charset="-122"/>
                <a:cs typeface="Fraunces Medium" pitchFamily="34" charset="-120"/>
              </a:rPr>
              <a:t>83.9%</a:t>
            </a:r>
            <a:endParaRPr lang="en-US" sz="3200" dirty="0"/>
          </a:p>
        </p:txBody>
      </p:sp>
      <p:sp>
        <p:nvSpPr>
          <p:cNvPr id="10" name="Text 8"/>
          <p:cNvSpPr/>
          <p:nvPr/>
        </p:nvSpPr>
        <p:spPr>
          <a:xfrm>
            <a:off x="4649465" y="3191917"/>
            <a:ext cx="3998416" cy="193849"/>
          </a:xfrm>
          <a:prstGeom prst="rect">
            <a:avLst/>
          </a:prstGeom>
          <a:noFill/>
          <a:ln/>
        </p:spPr>
        <p:txBody>
          <a:bodyPr wrap="none" lIns="0" tIns="0" rIns="0" bIns="0" rtlCol="0" anchor="t"/>
          <a:lstStyle/>
          <a:p>
            <a:pPr marL="0" indent="0" algn="ctr">
              <a:lnSpc>
                <a:spcPct val="104000"/>
              </a:lnSpc>
              <a:buNone/>
            </a:pPr>
            <a:r>
              <a:rPr lang="en-US" sz="1200" dirty="0">
                <a:solidFill>
                  <a:srgbClr val="EBECEF"/>
                </a:solidFill>
                <a:latin typeface="Fraunces Medium" pitchFamily="34" charset="0"/>
                <a:ea typeface="Fraunces Medium" pitchFamily="34" charset="-122"/>
                <a:cs typeface="Fraunces Medium" pitchFamily="34" charset="-120"/>
              </a:rPr>
              <a:t>Retention Rate</a:t>
            </a:r>
            <a:endParaRPr lang="en-US" sz="1200" dirty="0"/>
          </a:p>
        </p:txBody>
      </p:sp>
      <p:sp>
        <p:nvSpPr>
          <p:cNvPr id="11" name="Shape 9"/>
          <p:cNvSpPr/>
          <p:nvPr/>
        </p:nvSpPr>
        <p:spPr>
          <a:xfrm>
            <a:off x="496119" y="3525292"/>
            <a:ext cx="8151763" cy="694432"/>
          </a:xfrm>
          <a:prstGeom prst="roundRect">
            <a:avLst>
              <a:gd name="adj" fmla="val 7502"/>
            </a:avLst>
          </a:prstGeom>
          <a:solidFill>
            <a:srgbClr val="283157"/>
          </a:solidFill>
          <a:ln/>
        </p:spPr>
      </p:sp>
      <p:pic>
        <p:nvPicPr>
          <p:cNvPr id="12" name="Image 0" descr="preencoded.png"/>
          <p:cNvPicPr>
            <a:picLocks noChangeAspect="1"/>
          </p:cNvPicPr>
          <p:nvPr/>
        </p:nvPicPr>
        <p:blipFill>
          <a:blip r:embed="rId3"/>
          <a:stretch>
            <a:fillRect/>
          </a:stretch>
        </p:blipFill>
        <p:spPr>
          <a:xfrm>
            <a:off x="620092" y="3705076"/>
            <a:ext cx="155004" cy="123974"/>
          </a:xfrm>
          <a:prstGeom prst="rect">
            <a:avLst/>
          </a:prstGeom>
        </p:spPr>
      </p:pic>
      <p:sp>
        <p:nvSpPr>
          <p:cNvPr id="13" name="Text 10"/>
          <p:cNvSpPr/>
          <p:nvPr/>
        </p:nvSpPr>
        <p:spPr>
          <a:xfrm>
            <a:off x="899071" y="3680222"/>
            <a:ext cx="7624837" cy="396925"/>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FFFFFF"/>
                </a:solidFill>
                <a:latin typeface="Epilogue Bold" pitchFamily="34" charset="0"/>
                <a:ea typeface="Epilogue Bold" pitchFamily="34" charset="-122"/>
                <a:cs typeface="Epilogue Bold" pitchFamily="34" charset="-120"/>
              </a:rPr>
              <a:t>Executive Insight:</a:t>
            </a:r>
            <a:r>
              <a:rPr lang="en-US" sz="950" dirty="0">
                <a:solidFill>
                  <a:srgbClr val="FFFFFF"/>
                </a:solidFill>
                <a:latin typeface="Epilogue" pitchFamily="34" charset="0"/>
                <a:ea typeface="Epilogue" pitchFamily="34" charset="-122"/>
                <a:cs typeface="Epilogue" pitchFamily="34" charset="-120"/>
              </a:rPr>
              <a:t> While 83.9% retention appears stable, a 16.1% attrition rate represents 237 departures — each carrying significant replacement cost and productivity impact.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2" name="Text 0"/>
          <p:cNvSpPr/>
          <p:nvPr/>
        </p:nvSpPr>
        <p:spPr>
          <a:xfrm>
            <a:off x="496119" y="347142"/>
            <a:ext cx="8151763" cy="369466"/>
          </a:xfrm>
          <a:prstGeom prst="rect">
            <a:avLst/>
          </a:prstGeom>
          <a:noFill/>
          <a:ln/>
        </p:spPr>
        <p:txBody>
          <a:bodyPr wrap="none" lIns="0" tIns="0" rIns="0" bIns="0" rtlCol="0" anchor="t"/>
          <a:lstStyle/>
          <a:p>
            <a:pPr marL="0" indent="0" algn="l">
              <a:lnSpc>
                <a:spcPct val="104000"/>
              </a:lnSpc>
              <a:buNone/>
            </a:pPr>
            <a:r>
              <a:rPr lang="en-US" sz="2300" dirty="0">
                <a:solidFill>
                  <a:srgbClr val="FFFFFF"/>
                </a:solidFill>
                <a:latin typeface="Fraunces Medium" pitchFamily="34" charset="0"/>
                <a:ea typeface="Fraunces Medium" pitchFamily="34" charset="-122"/>
                <a:cs typeface="Fraunces Medium" pitchFamily="34" charset="-120"/>
              </a:rPr>
              <a:t>Key Findings</a:t>
            </a:r>
            <a:endParaRPr lang="en-US" sz="2300" dirty="0"/>
          </a:p>
        </p:txBody>
      </p:sp>
      <p:pic>
        <p:nvPicPr>
          <p:cNvPr id="3" name="Image 0" descr="preencoded.png"/>
          <p:cNvPicPr>
            <a:picLocks noChangeAspect="1"/>
          </p:cNvPicPr>
          <p:nvPr/>
        </p:nvPicPr>
        <p:blipFill>
          <a:blip r:embed="rId3"/>
          <a:stretch>
            <a:fillRect/>
          </a:stretch>
        </p:blipFill>
        <p:spPr>
          <a:xfrm>
            <a:off x="496119" y="1012329"/>
            <a:ext cx="3931667" cy="2246635"/>
          </a:xfrm>
          <a:prstGeom prst="rect">
            <a:avLst/>
          </a:prstGeom>
        </p:spPr>
      </p:pic>
      <p:sp>
        <p:nvSpPr>
          <p:cNvPr id="4" name="Text 1"/>
          <p:cNvSpPr/>
          <p:nvPr/>
        </p:nvSpPr>
        <p:spPr>
          <a:xfrm>
            <a:off x="4720977" y="1950913"/>
            <a:ext cx="3931667" cy="369391"/>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EBECEF"/>
                </a:solidFill>
                <a:latin typeface="Epilogue" pitchFamily="34" charset="0"/>
                <a:ea typeface="Epilogue" pitchFamily="34" charset="-122"/>
                <a:cs typeface="Epilogue" pitchFamily="34" charset="-120"/>
              </a:rPr>
              <a:t>These five factors indicate that workload, early-career experience, and job satisfaction are the primary levers for reducing attrition.</a:t>
            </a:r>
            <a:endParaRPr lang="en-US" sz="90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1831" y="3498131"/>
            <a:ext cx="2637681" cy="650230"/>
          </a:xfrm>
          <a:prstGeom prst="rect">
            <a:avLst/>
          </a:prstGeom>
        </p:spPr>
      </p:pic>
      <p:sp>
        <p:nvSpPr>
          <p:cNvPr id="6" name="Text 2"/>
          <p:cNvSpPr/>
          <p:nvPr/>
        </p:nvSpPr>
        <p:spPr>
          <a:xfrm>
            <a:off x="642863" y="3512418"/>
            <a:ext cx="2476649" cy="184696"/>
          </a:xfrm>
          <a:prstGeom prst="rect">
            <a:avLst/>
          </a:prstGeom>
          <a:noFill/>
          <a:ln/>
        </p:spPr>
        <p:txBody>
          <a:bodyPr wrap="none" lIns="0" tIns="0" rIns="0" bIns="0" rtlCol="0" anchor="t"/>
          <a:lstStyle/>
          <a:p>
            <a:pPr marL="0" indent="0" algn="ctr">
              <a:lnSpc>
                <a:spcPct val="104000"/>
              </a:lnSpc>
              <a:buNone/>
            </a:pPr>
            <a:r>
              <a:rPr lang="en-US" sz="1150" dirty="0">
                <a:solidFill>
                  <a:srgbClr val="EBECEF"/>
                </a:solidFill>
                <a:latin typeface="Fraunces Medium" pitchFamily="34" charset="0"/>
                <a:ea typeface="Fraunces Medium" pitchFamily="34" charset="-122"/>
                <a:cs typeface="Fraunces Medium" pitchFamily="34" charset="-120"/>
              </a:rPr>
              <a:t>Overtime Drives Attrition</a:t>
            </a:r>
            <a:endParaRPr lang="en-US" sz="1150" dirty="0"/>
          </a:p>
        </p:txBody>
      </p:sp>
      <p:sp>
        <p:nvSpPr>
          <p:cNvPr id="7" name="Text 3"/>
          <p:cNvSpPr/>
          <p:nvPr/>
        </p:nvSpPr>
        <p:spPr>
          <a:xfrm>
            <a:off x="642863" y="3764682"/>
            <a:ext cx="2476649" cy="369391"/>
          </a:xfrm>
          <a:prstGeom prst="rect">
            <a:avLst/>
          </a:prstGeom>
          <a:noFill/>
          <a:ln/>
        </p:spPr>
        <p:txBody>
          <a:bodyPr wrap="square" lIns="0" tIns="0" rIns="0" bIns="0" rtlCol="0" anchor="t">
            <a:normAutofit/>
          </a:bodyPr>
          <a:lstStyle/>
          <a:p>
            <a:pPr marL="0" indent="0" algn="ctr">
              <a:lnSpc>
                <a:spcPct val="130000"/>
              </a:lnSpc>
              <a:buNone/>
            </a:pPr>
            <a:r>
              <a:rPr lang="en-US" sz="900" dirty="0">
                <a:solidFill>
                  <a:srgbClr val="EBECEF"/>
                </a:solidFill>
                <a:latin typeface="Epilogue" pitchFamily="34" charset="0"/>
                <a:ea typeface="Epilogue" pitchFamily="34" charset="-122"/>
                <a:cs typeface="Epilogue" pitchFamily="34" charset="-120"/>
              </a:rPr>
              <a:t>30.5% attrition with overtime vs. 10.4% without</a:t>
            </a:r>
            <a:endParaRPr lang="en-US" sz="900" dirty="0"/>
          </a:p>
        </p:txBody>
      </p:sp>
      <p:pic>
        <p:nvPicPr>
          <p:cNvPr id="8"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46016" y="3498131"/>
            <a:ext cx="2637681" cy="650230"/>
          </a:xfrm>
          <a:prstGeom prst="rect">
            <a:avLst/>
          </a:prstGeom>
        </p:spPr>
      </p:pic>
      <p:sp>
        <p:nvSpPr>
          <p:cNvPr id="9" name="Text 4"/>
          <p:cNvSpPr/>
          <p:nvPr/>
        </p:nvSpPr>
        <p:spPr>
          <a:xfrm>
            <a:off x="3407048" y="3512418"/>
            <a:ext cx="2476649" cy="369391"/>
          </a:xfrm>
          <a:prstGeom prst="rect">
            <a:avLst/>
          </a:prstGeom>
          <a:noFill/>
          <a:ln/>
        </p:spPr>
        <p:txBody>
          <a:bodyPr wrap="square" lIns="0" tIns="0" rIns="0" bIns="0" rtlCol="0" anchor="t">
            <a:normAutofit/>
          </a:bodyPr>
          <a:lstStyle/>
          <a:p>
            <a:pPr marL="0" indent="0" algn="ctr">
              <a:lnSpc>
                <a:spcPct val="104000"/>
              </a:lnSpc>
              <a:buNone/>
            </a:pPr>
            <a:r>
              <a:rPr lang="en-US" sz="1150" dirty="0">
                <a:solidFill>
                  <a:srgbClr val="EBECEF"/>
                </a:solidFill>
                <a:latin typeface="Fraunces Medium" pitchFamily="34" charset="0"/>
                <a:ea typeface="Fraunces Medium" pitchFamily="34" charset="-122"/>
                <a:cs typeface="Fraunces Medium" pitchFamily="34" charset="-120"/>
              </a:rPr>
              <a:t>Youngest Employees at Highest Risk</a:t>
            </a:r>
            <a:endParaRPr lang="en-US" sz="1150" dirty="0"/>
          </a:p>
        </p:txBody>
      </p:sp>
      <p:sp>
        <p:nvSpPr>
          <p:cNvPr id="10" name="Text 5"/>
          <p:cNvSpPr/>
          <p:nvPr/>
        </p:nvSpPr>
        <p:spPr>
          <a:xfrm>
            <a:off x="3407048" y="3949378"/>
            <a:ext cx="2476649" cy="184696"/>
          </a:xfrm>
          <a:prstGeom prst="rect">
            <a:avLst/>
          </a:prstGeom>
          <a:noFill/>
          <a:ln/>
        </p:spPr>
        <p:txBody>
          <a:bodyPr wrap="none" lIns="0" tIns="0" rIns="0" bIns="0" rtlCol="0" anchor="t"/>
          <a:lstStyle/>
          <a:p>
            <a:pPr marL="0" indent="0" algn="ctr">
              <a:lnSpc>
                <a:spcPct val="130000"/>
              </a:lnSpc>
              <a:buNone/>
            </a:pPr>
            <a:r>
              <a:rPr lang="en-US" sz="900" dirty="0">
                <a:solidFill>
                  <a:srgbClr val="EBECEF"/>
                </a:solidFill>
                <a:latin typeface="Epilogue" pitchFamily="34" charset="0"/>
                <a:ea typeface="Epilogue" pitchFamily="34" charset="-122"/>
                <a:cs typeface="Epilogue" pitchFamily="34" charset="-120"/>
              </a:rPr>
              <a:t>Ages 18–25 show 35.8% attrition</a:t>
            </a:r>
            <a:endParaRPr lang="en-US" sz="900" dirty="0"/>
          </a:p>
        </p:txBody>
      </p:sp>
      <p:pic>
        <p:nvPicPr>
          <p:cNvPr id="11"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10201" y="3498131"/>
            <a:ext cx="2637681" cy="650230"/>
          </a:xfrm>
          <a:prstGeom prst="rect">
            <a:avLst/>
          </a:prstGeom>
        </p:spPr>
      </p:pic>
      <p:sp>
        <p:nvSpPr>
          <p:cNvPr id="12" name="Text 6"/>
          <p:cNvSpPr/>
          <p:nvPr/>
        </p:nvSpPr>
        <p:spPr>
          <a:xfrm>
            <a:off x="6171233" y="3512418"/>
            <a:ext cx="2476649" cy="184696"/>
          </a:xfrm>
          <a:prstGeom prst="rect">
            <a:avLst/>
          </a:prstGeom>
          <a:noFill/>
          <a:ln/>
        </p:spPr>
        <p:txBody>
          <a:bodyPr wrap="none" lIns="0" tIns="0" rIns="0" bIns="0" rtlCol="0" anchor="t"/>
          <a:lstStyle/>
          <a:p>
            <a:pPr marL="0" indent="0" algn="ctr">
              <a:lnSpc>
                <a:spcPct val="104000"/>
              </a:lnSpc>
              <a:buNone/>
            </a:pPr>
            <a:r>
              <a:rPr lang="en-US" sz="1150" dirty="0">
                <a:solidFill>
                  <a:srgbClr val="EBECEF"/>
                </a:solidFill>
                <a:latin typeface="Fraunces Medium" pitchFamily="34" charset="0"/>
                <a:ea typeface="Fraunces Medium" pitchFamily="34" charset="-122"/>
                <a:cs typeface="Fraunces Medium" pitchFamily="34" charset="-120"/>
              </a:rPr>
              <a:t>New Hires Are Vulnerable</a:t>
            </a:r>
            <a:endParaRPr lang="en-US" sz="1150" dirty="0"/>
          </a:p>
        </p:txBody>
      </p:sp>
      <p:sp>
        <p:nvSpPr>
          <p:cNvPr id="13" name="Text 7"/>
          <p:cNvSpPr/>
          <p:nvPr/>
        </p:nvSpPr>
        <p:spPr>
          <a:xfrm>
            <a:off x="6171233" y="3764682"/>
            <a:ext cx="2476649" cy="184696"/>
          </a:xfrm>
          <a:prstGeom prst="rect">
            <a:avLst/>
          </a:prstGeom>
          <a:noFill/>
          <a:ln/>
        </p:spPr>
        <p:txBody>
          <a:bodyPr wrap="none" lIns="0" tIns="0" rIns="0" bIns="0" rtlCol="0" anchor="t"/>
          <a:lstStyle/>
          <a:p>
            <a:pPr marL="0" indent="0" algn="ctr">
              <a:lnSpc>
                <a:spcPct val="130000"/>
              </a:lnSpc>
              <a:buNone/>
            </a:pPr>
            <a:r>
              <a:rPr lang="en-US" sz="900" dirty="0">
                <a:solidFill>
                  <a:srgbClr val="EBECEF"/>
                </a:solidFill>
                <a:latin typeface="Epilogue" pitchFamily="34" charset="0"/>
                <a:ea typeface="Epilogue" pitchFamily="34" charset="-122"/>
                <a:cs typeface="Epilogue" pitchFamily="34" charset="-120"/>
              </a:rPr>
              <a:t>29.8% attrition among newer employees</a:t>
            </a:r>
            <a:endParaRPr lang="en-US" sz="900" dirty="0"/>
          </a:p>
        </p:txBody>
      </p:sp>
      <p:pic>
        <p:nvPicPr>
          <p:cNvPr id="14"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1831" y="4345112"/>
            <a:ext cx="4019773" cy="465534"/>
          </a:xfrm>
          <a:prstGeom prst="rect">
            <a:avLst/>
          </a:prstGeom>
        </p:spPr>
      </p:pic>
      <p:sp>
        <p:nvSpPr>
          <p:cNvPr id="15" name="Text 8"/>
          <p:cNvSpPr/>
          <p:nvPr/>
        </p:nvSpPr>
        <p:spPr>
          <a:xfrm>
            <a:off x="642863" y="4359399"/>
            <a:ext cx="3858741" cy="184696"/>
          </a:xfrm>
          <a:prstGeom prst="rect">
            <a:avLst/>
          </a:prstGeom>
          <a:noFill/>
          <a:ln/>
        </p:spPr>
        <p:txBody>
          <a:bodyPr wrap="none" lIns="0" tIns="0" rIns="0" bIns="0" rtlCol="0" anchor="t"/>
          <a:lstStyle/>
          <a:p>
            <a:pPr marL="0" indent="0" algn="ctr">
              <a:lnSpc>
                <a:spcPct val="104000"/>
              </a:lnSpc>
              <a:buNone/>
            </a:pPr>
            <a:r>
              <a:rPr lang="en-US" sz="1150" dirty="0">
                <a:solidFill>
                  <a:srgbClr val="EBECEF"/>
                </a:solidFill>
                <a:latin typeface="Fraunces Medium" pitchFamily="34" charset="0"/>
                <a:ea typeface="Fraunces Medium" pitchFamily="34" charset="-122"/>
                <a:cs typeface="Fraunces Medium" pitchFamily="34" charset="-120"/>
              </a:rPr>
              <a:t>Low Satisfaction Accelerates Departures</a:t>
            </a:r>
            <a:endParaRPr lang="en-US" sz="1150" dirty="0"/>
          </a:p>
        </p:txBody>
      </p:sp>
      <p:sp>
        <p:nvSpPr>
          <p:cNvPr id="16" name="Text 9"/>
          <p:cNvSpPr/>
          <p:nvPr/>
        </p:nvSpPr>
        <p:spPr>
          <a:xfrm>
            <a:off x="642863" y="4611663"/>
            <a:ext cx="3858741" cy="184696"/>
          </a:xfrm>
          <a:prstGeom prst="rect">
            <a:avLst/>
          </a:prstGeom>
          <a:noFill/>
          <a:ln/>
        </p:spPr>
        <p:txBody>
          <a:bodyPr wrap="none" lIns="0" tIns="0" rIns="0" bIns="0" rtlCol="0" anchor="t"/>
          <a:lstStyle/>
          <a:p>
            <a:pPr marL="0" indent="0" algn="ctr">
              <a:lnSpc>
                <a:spcPct val="130000"/>
              </a:lnSpc>
              <a:buNone/>
            </a:pPr>
            <a:r>
              <a:rPr lang="en-US" sz="900" dirty="0">
                <a:solidFill>
                  <a:srgbClr val="EBECEF"/>
                </a:solidFill>
                <a:latin typeface="Epilogue" pitchFamily="34" charset="0"/>
                <a:ea typeface="Epilogue" pitchFamily="34" charset="-122"/>
                <a:cs typeface="Epilogue" pitchFamily="34" charset="-120"/>
              </a:rPr>
              <a:t>22.8% attrition for low job satisfaction</a:t>
            </a:r>
            <a:endParaRPr lang="en-US" sz="900" dirty="0"/>
          </a:p>
        </p:txBody>
      </p:sp>
      <p:pic>
        <p:nvPicPr>
          <p:cNvPr id="17" name="Image 5"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28108" y="4345112"/>
            <a:ext cx="4019773" cy="465534"/>
          </a:xfrm>
          <a:prstGeom prst="rect">
            <a:avLst/>
          </a:prstGeom>
        </p:spPr>
      </p:pic>
      <p:sp>
        <p:nvSpPr>
          <p:cNvPr id="18" name="Text 10"/>
          <p:cNvSpPr/>
          <p:nvPr/>
        </p:nvSpPr>
        <p:spPr>
          <a:xfrm>
            <a:off x="4789140" y="4359399"/>
            <a:ext cx="3858741" cy="184696"/>
          </a:xfrm>
          <a:prstGeom prst="rect">
            <a:avLst/>
          </a:prstGeom>
          <a:noFill/>
          <a:ln/>
        </p:spPr>
        <p:txBody>
          <a:bodyPr wrap="none" lIns="0" tIns="0" rIns="0" bIns="0" rtlCol="0" anchor="t"/>
          <a:lstStyle/>
          <a:p>
            <a:pPr marL="0" indent="0" algn="ctr">
              <a:lnSpc>
                <a:spcPct val="104000"/>
              </a:lnSpc>
              <a:buNone/>
            </a:pPr>
            <a:r>
              <a:rPr lang="en-US" sz="1150" dirty="0">
                <a:solidFill>
                  <a:srgbClr val="EBECEF"/>
                </a:solidFill>
                <a:latin typeface="Fraunces Medium" pitchFamily="34" charset="0"/>
                <a:ea typeface="Fraunces Medium" pitchFamily="34" charset="-122"/>
                <a:cs typeface="Fraunces Medium" pitchFamily="34" charset="-120"/>
              </a:rPr>
              <a:t>HR Education Field Leads Attrition</a:t>
            </a:r>
            <a:endParaRPr lang="en-US" sz="1150" dirty="0"/>
          </a:p>
        </p:txBody>
      </p:sp>
      <p:sp>
        <p:nvSpPr>
          <p:cNvPr id="19" name="Text 11"/>
          <p:cNvSpPr/>
          <p:nvPr/>
        </p:nvSpPr>
        <p:spPr>
          <a:xfrm>
            <a:off x="4789140" y="4611663"/>
            <a:ext cx="3858741" cy="184696"/>
          </a:xfrm>
          <a:prstGeom prst="rect">
            <a:avLst/>
          </a:prstGeom>
          <a:noFill/>
          <a:ln/>
        </p:spPr>
        <p:txBody>
          <a:bodyPr wrap="none" lIns="0" tIns="0" rIns="0" bIns="0" rtlCol="0" anchor="t"/>
          <a:lstStyle/>
          <a:p>
            <a:pPr marL="0" indent="0" algn="ctr">
              <a:lnSpc>
                <a:spcPct val="130000"/>
              </a:lnSpc>
              <a:buNone/>
            </a:pPr>
            <a:r>
              <a:rPr lang="en-US" sz="900" dirty="0">
                <a:solidFill>
                  <a:srgbClr val="EBECEF"/>
                </a:solidFill>
                <a:latin typeface="Epilogue" pitchFamily="34" charset="0"/>
                <a:ea typeface="Epilogue" pitchFamily="34" charset="-122"/>
                <a:cs typeface="Epilogue" pitchFamily="34" charset="-120"/>
              </a:rPr>
              <a:t>25.9% attrition — highest by education field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sp>
        <p:nvSpPr>
          <p:cNvPr id="2" name="Text 0"/>
          <p:cNvSpPr/>
          <p:nvPr/>
        </p:nvSpPr>
        <p:spPr>
          <a:xfrm>
            <a:off x="496119" y="366638"/>
            <a:ext cx="8151763" cy="369466"/>
          </a:xfrm>
          <a:prstGeom prst="rect">
            <a:avLst/>
          </a:prstGeom>
          <a:noFill/>
          <a:ln/>
        </p:spPr>
        <p:txBody>
          <a:bodyPr wrap="none" lIns="0" tIns="0" rIns="0" bIns="0" rtlCol="0" anchor="t"/>
          <a:lstStyle/>
          <a:p>
            <a:pPr marL="0" indent="0" algn="l">
              <a:lnSpc>
                <a:spcPct val="104000"/>
              </a:lnSpc>
              <a:buNone/>
            </a:pPr>
            <a:r>
              <a:rPr lang="en-US" sz="2300" dirty="0">
                <a:solidFill>
                  <a:srgbClr val="FFFFFF"/>
                </a:solidFill>
                <a:latin typeface="Fraunces Medium" pitchFamily="34" charset="0"/>
                <a:ea typeface="Fraunces Medium" pitchFamily="34" charset="-122"/>
                <a:cs typeface="Fraunces Medium" pitchFamily="34" charset="-120"/>
              </a:rPr>
              <a:t>Executive Summary Dashboard</a:t>
            </a:r>
            <a:endParaRPr lang="en-US" sz="2300" dirty="0"/>
          </a:p>
        </p:txBody>
      </p:sp>
      <p:pic>
        <p:nvPicPr>
          <p:cNvPr id="3" name="Image 0" descr="preencoded.png"/>
          <p:cNvPicPr>
            <a:picLocks noChangeAspect="1"/>
          </p:cNvPicPr>
          <p:nvPr/>
        </p:nvPicPr>
        <p:blipFill>
          <a:blip r:embed="rId3"/>
          <a:stretch>
            <a:fillRect/>
          </a:stretch>
        </p:blipFill>
        <p:spPr>
          <a:xfrm>
            <a:off x="496120" y="871870"/>
            <a:ext cx="8530922" cy="42716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2" name="Text 0"/>
          <p:cNvSpPr/>
          <p:nvPr/>
        </p:nvSpPr>
        <p:spPr>
          <a:xfrm>
            <a:off x="496119" y="354583"/>
            <a:ext cx="8151763" cy="381521"/>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Fraunces Medium" pitchFamily="34" charset="0"/>
                <a:ea typeface="Fraunces Medium" pitchFamily="34" charset="-122"/>
                <a:cs typeface="Fraunces Medium" pitchFamily="34" charset="-120"/>
              </a:rPr>
              <a:t>Employee Risk Analysis</a:t>
            </a:r>
            <a:endParaRPr lang="en-US" sz="2400" dirty="0"/>
          </a:p>
        </p:txBody>
      </p:sp>
      <p:pic>
        <p:nvPicPr>
          <p:cNvPr id="3" name="Image 0" descr="preencoded.png"/>
          <p:cNvPicPr>
            <a:picLocks noChangeAspect="1"/>
          </p:cNvPicPr>
          <p:nvPr/>
        </p:nvPicPr>
        <p:blipFill>
          <a:blip r:embed="rId3"/>
          <a:stretch>
            <a:fillRect/>
          </a:stretch>
        </p:blipFill>
        <p:spPr>
          <a:xfrm>
            <a:off x="496119" y="1051545"/>
            <a:ext cx="3926979" cy="2178248"/>
          </a:xfrm>
          <a:prstGeom prst="rect">
            <a:avLst/>
          </a:prstGeom>
        </p:spPr>
      </p:pic>
      <p:sp>
        <p:nvSpPr>
          <p:cNvPr id="4" name="Text 1"/>
          <p:cNvSpPr/>
          <p:nvPr/>
        </p:nvSpPr>
        <p:spPr>
          <a:xfrm>
            <a:off x="4725665" y="1339304"/>
            <a:ext cx="3926979" cy="387697"/>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EBECEF"/>
                </a:solidFill>
                <a:latin typeface="Epilogue" pitchFamily="34" charset="0"/>
                <a:ea typeface="Epilogue" pitchFamily="34" charset="-122"/>
                <a:cs typeface="Epilogue" pitchFamily="34" charset="-120"/>
              </a:rPr>
              <a:t>The Risk Analysis view identifies the highest-risk segments requiring immediate leadership attention.</a:t>
            </a:r>
            <a:endParaRPr lang="en-US" sz="950" dirty="0"/>
          </a:p>
        </p:txBody>
      </p:sp>
      <p:sp>
        <p:nvSpPr>
          <p:cNvPr id="5" name="Shape 2"/>
          <p:cNvSpPr/>
          <p:nvPr/>
        </p:nvSpPr>
        <p:spPr>
          <a:xfrm>
            <a:off x="4725665" y="1862212"/>
            <a:ext cx="3926979" cy="1052661"/>
          </a:xfrm>
          <a:prstGeom prst="roundRect">
            <a:avLst>
              <a:gd name="adj" fmla="val 4872"/>
            </a:avLst>
          </a:prstGeom>
          <a:solidFill>
            <a:srgbClr val="283157"/>
          </a:solidFill>
          <a:ln/>
        </p:spPr>
      </p:sp>
      <p:pic>
        <p:nvPicPr>
          <p:cNvPr id="6" name="Image 1" descr="preencoded.png"/>
          <p:cNvPicPr>
            <a:picLocks noChangeAspect="1"/>
          </p:cNvPicPr>
          <p:nvPr/>
        </p:nvPicPr>
        <p:blipFill>
          <a:blip r:embed="rId4"/>
          <a:stretch>
            <a:fillRect/>
          </a:stretch>
        </p:blipFill>
        <p:spPr>
          <a:xfrm>
            <a:off x="4847704" y="2036564"/>
            <a:ext cx="152623" cy="122039"/>
          </a:xfrm>
          <a:prstGeom prst="rect">
            <a:avLst/>
          </a:prstGeom>
        </p:spPr>
      </p:pic>
      <p:sp>
        <p:nvSpPr>
          <p:cNvPr id="7" name="Text 3"/>
          <p:cNvSpPr/>
          <p:nvPr/>
        </p:nvSpPr>
        <p:spPr>
          <a:xfrm>
            <a:off x="5122366" y="2000845"/>
            <a:ext cx="3408238" cy="775395"/>
          </a:xfrm>
          <a:prstGeom prst="rect">
            <a:avLst/>
          </a:prstGeom>
          <a:noFill/>
          <a:ln/>
        </p:spPr>
        <p:txBody>
          <a:bodyPr wrap="square" lIns="0" tIns="0" rIns="0" bIns="0" rtlCol="0" anchor="t">
            <a:normAutofit/>
          </a:bodyPr>
          <a:lstStyle/>
          <a:p>
            <a:pPr marL="0" indent="0" algn="l">
              <a:lnSpc>
                <a:spcPct val="132000"/>
              </a:lnSpc>
              <a:buNone/>
            </a:pPr>
            <a:r>
              <a:rPr lang="en-US" sz="950" b="1" dirty="0">
                <a:solidFill>
                  <a:srgbClr val="FFFFFF"/>
                </a:solidFill>
                <a:latin typeface="Epilogue Bold" pitchFamily="34" charset="0"/>
                <a:ea typeface="Epilogue Bold" pitchFamily="34" charset="-122"/>
                <a:cs typeface="Epilogue Bold" pitchFamily="34" charset="-120"/>
              </a:rPr>
              <a:t>Business Conclusion:</a:t>
            </a:r>
            <a:r>
              <a:rPr lang="en-US" sz="950" dirty="0">
                <a:solidFill>
                  <a:srgbClr val="FFFFFF"/>
                </a:solidFill>
                <a:latin typeface="Epilogue" pitchFamily="34" charset="0"/>
                <a:ea typeface="Epilogue" pitchFamily="34" charset="-122"/>
                <a:cs typeface="Epilogue" pitchFamily="34" charset="-120"/>
              </a:rPr>
              <a:t> Sales teams — particularly representatives with high travel demands and lower compensation — represent the most critical retention priority.</a:t>
            </a:r>
            <a:endParaRPr lang="en-US" sz="950" dirty="0"/>
          </a:p>
        </p:txBody>
      </p:sp>
      <p:sp>
        <p:nvSpPr>
          <p:cNvPr id="8" name="Shape 4"/>
          <p:cNvSpPr/>
          <p:nvPr/>
        </p:nvSpPr>
        <p:spPr>
          <a:xfrm>
            <a:off x="496119" y="3500214"/>
            <a:ext cx="1947788" cy="1288703"/>
          </a:xfrm>
          <a:prstGeom prst="roundRect">
            <a:avLst>
              <a:gd name="adj" fmla="val 3980"/>
            </a:avLst>
          </a:prstGeom>
          <a:solidFill>
            <a:srgbClr val="283157"/>
          </a:solidFill>
          <a:ln w="4763">
            <a:solidFill>
              <a:srgbClr val="414A70"/>
            </a:solidFill>
            <a:prstDash val="solid"/>
          </a:ln>
        </p:spPr>
      </p:sp>
      <p:sp>
        <p:nvSpPr>
          <p:cNvPr id="9" name="Text 5"/>
          <p:cNvSpPr/>
          <p:nvPr/>
        </p:nvSpPr>
        <p:spPr>
          <a:xfrm>
            <a:off x="622920" y="3627016"/>
            <a:ext cx="1694185" cy="381446"/>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000000"/>
                </a:solidFill>
                <a:latin typeface="Epilogue" panose="020B0604020202020204" charset="0"/>
                <a:ea typeface="Twemoji Mozilla" pitchFamily="34" charset="-122"/>
                <a:cs typeface="Twemoji Mozilla" pitchFamily="34" charset="-120"/>
              </a:rPr>
              <a:t>🏢</a:t>
            </a:r>
            <a:r>
              <a:rPr lang="en-US" sz="1200" dirty="0">
                <a:solidFill>
                  <a:srgbClr val="EBECEF"/>
                </a:solidFill>
                <a:latin typeface="Fraunces Medium" pitchFamily="34" charset="0"/>
                <a:ea typeface="Fraunces Medium" pitchFamily="34" charset="-122"/>
                <a:cs typeface="Fraunces Medium" pitchFamily="34" charset="-120"/>
              </a:rPr>
              <a:t> Highest-Risk Department</a:t>
            </a:r>
            <a:endParaRPr lang="en-US" sz="1200" dirty="0"/>
          </a:p>
        </p:txBody>
      </p:sp>
      <p:sp>
        <p:nvSpPr>
          <p:cNvPr id="10" name="Text 6"/>
          <p:cNvSpPr/>
          <p:nvPr/>
        </p:nvSpPr>
        <p:spPr>
          <a:xfrm>
            <a:off x="622920" y="4080570"/>
            <a:ext cx="1694185" cy="581546"/>
          </a:xfrm>
          <a:prstGeom prst="rect">
            <a:avLst/>
          </a:prstGeom>
          <a:noFill/>
          <a:ln/>
        </p:spPr>
        <p:txBody>
          <a:bodyPr wrap="square" lIns="0" tIns="0" rIns="0" bIns="0" rtlCol="0" anchor="t">
            <a:normAutofit/>
          </a:bodyPr>
          <a:lstStyle/>
          <a:p>
            <a:pPr marL="0" indent="0" algn="l">
              <a:lnSpc>
                <a:spcPct val="132000"/>
              </a:lnSpc>
              <a:buNone/>
            </a:pPr>
            <a:r>
              <a:rPr lang="en-US" sz="950" b="1" dirty="0">
                <a:solidFill>
                  <a:srgbClr val="EBECEF"/>
                </a:solidFill>
                <a:latin typeface="Epilogue Bold" pitchFamily="34" charset="0"/>
                <a:ea typeface="Epilogue Bold" pitchFamily="34" charset="-122"/>
                <a:cs typeface="Epilogue Bold" pitchFamily="34" charset="-120"/>
              </a:rPr>
              <a:t>Sales</a:t>
            </a:r>
            <a:r>
              <a:rPr lang="en-US" sz="950" dirty="0">
                <a:solidFill>
                  <a:srgbClr val="EBECEF"/>
                </a:solidFill>
                <a:latin typeface="Epilogue" pitchFamily="34" charset="0"/>
                <a:ea typeface="Epilogue" pitchFamily="34" charset="-122"/>
                <a:cs typeface="Epilogue" pitchFamily="34" charset="-120"/>
              </a:rPr>
              <a:t> — consistently elevated attrition across roles</a:t>
            </a:r>
            <a:endParaRPr lang="en-US" sz="950" dirty="0"/>
          </a:p>
        </p:txBody>
      </p:sp>
      <p:sp>
        <p:nvSpPr>
          <p:cNvPr id="11" name="Shape 7"/>
          <p:cNvSpPr/>
          <p:nvPr/>
        </p:nvSpPr>
        <p:spPr>
          <a:xfrm>
            <a:off x="2564085" y="3500214"/>
            <a:ext cx="1947788" cy="1288703"/>
          </a:xfrm>
          <a:prstGeom prst="roundRect">
            <a:avLst>
              <a:gd name="adj" fmla="val 3980"/>
            </a:avLst>
          </a:prstGeom>
          <a:solidFill>
            <a:srgbClr val="283157"/>
          </a:solidFill>
          <a:ln w="4763">
            <a:solidFill>
              <a:srgbClr val="414A70"/>
            </a:solidFill>
            <a:prstDash val="solid"/>
          </a:ln>
        </p:spPr>
      </p:sp>
      <p:sp>
        <p:nvSpPr>
          <p:cNvPr id="12" name="Text 8"/>
          <p:cNvSpPr/>
          <p:nvPr/>
        </p:nvSpPr>
        <p:spPr>
          <a:xfrm>
            <a:off x="2690887" y="3627016"/>
            <a:ext cx="1694185" cy="381446"/>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000000"/>
                </a:solidFill>
                <a:latin typeface="Epilogue" panose="020B0604020202020204" charset="0"/>
                <a:ea typeface="Twemoji Mozilla" pitchFamily="34" charset="-122"/>
                <a:cs typeface="Twemoji Mozilla" pitchFamily="34" charset="-120"/>
              </a:rPr>
              <a:t>👤</a:t>
            </a:r>
            <a:r>
              <a:rPr lang="en-US" sz="1200" dirty="0">
                <a:solidFill>
                  <a:srgbClr val="EBECEF"/>
                </a:solidFill>
                <a:latin typeface="Fraunces Medium" pitchFamily="34" charset="0"/>
                <a:ea typeface="Fraunces Medium" pitchFamily="34" charset="-122"/>
                <a:cs typeface="Fraunces Medium" pitchFamily="34" charset="-120"/>
              </a:rPr>
              <a:t> Highest-Risk Job Role</a:t>
            </a:r>
            <a:endParaRPr lang="en-US" sz="1200" dirty="0"/>
          </a:p>
        </p:txBody>
      </p:sp>
      <p:sp>
        <p:nvSpPr>
          <p:cNvPr id="13" name="Text 9"/>
          <p:cNvSpPr/>
          <p:nvPr/>
        </p:nvSpPr>
        <p:spPr>
          <a:xfrm>
            <a:off x="2690887" y="4080570"/>
            <a:ext cx="1694185" cy="387697"/>
          </a:xfrm>
          <a:prstGeom prst="rect">
            <a:avLst/>
          </a:prstGeom>
          <a:noFill/>
          <a:ln/>
        </p:spPr>
        <p:txBody>
          <a:bodyPr wrap="square" lIns="0" tIns="0" rIns="0" bIns="0" rtlCol="0" anchor="t">
            <a:normAutofit/>
          </a:bodyPr>
          <a:lstStyle/>
          <a:p>
            <a:pPr marL="0" indent="0" algn="l">
              <a:lnSpc>
                <a:spcPct val="132000"/>
              </a:lnSpc>
              <a:buNone/>
            </a:pPr>
            <a:r>
              <a:rPr lang="en-US" sz="950" b="1" dirty="0">
                <a:solidFill>
                  <a:srgbClr val="EBECEF"/>
                </a:solidFill>
                <a:latin typeface="Epilogue Bold" pitchFamily="34" charset="0"/>
                <a:ea typeface="Epilogue Bold" pitchFamily="34" charset="-122"/>
                <a:cs typeface="Epilogue Bold" pitchFamily="34" charset="-120"/>
              </a:rPr>
              <a:t>Sales Representative</a:t>
            </a:r>
            <a:r>
              <a:rPr lang="en-US" sz="950" dirty="0">
                <a:solidFill>
                  <a:srgbClr val="EBECEF"/>
                </a:solidFill>
                <a:latin typeface="Epilogue" pitchFamily="34" charset="0"/>
                <a:ea typeface="Epilogue" pitchFamily="34" charset="-122"/>
                <a:cs typeface="Epilogue" pitchFamily="34" charset="-120"/>
              </a:rPr>
              <a:t> — highest individual role risk</a:t>
            </a:r>
            <a:endParaRPr lang="en-US" sz="950" dirty="0"/>
          </a:p>
        </p:txBody>
      </p:sp>
      <p:sp>
        <p:nvSpPr>
          <p:cNvPr id="14" name="Shape 10"/>
          <p:cNvSpPr/>
          <p:nvPr/>
        </p:nvSpPr>
        <p:spPr>
          <a:xfrm>
            <a:off x="4632052" y="3500214"/>
            <a:ext cx="1947788" cy="1288703"/>
          </a:xfrm>
          <a:prstGeom prst="roundRect">
            <a:avLst>
              <a:gd name="adj" fmla="val 3980"/>
            </a:avLst>
          </a:prstGeom>
          <a:solidFill>
            <a:srgbClr val="283157"/>
          </a:solidFill>
          <a:ln w="4763">
            <a:solidFill>
              <a:srgbClr val="414A70"/>
            </a:solidFill>
            <a:prstDash val="solid"/>
          </a:ln>
        </p:spPr>
      </p:sp>
      <p:sp>
        <p:nvSpPr>
          <p:cNvPr id="15" name="Text 11"/>
          <p:cNvSpPr/>
          <p:nvPr/>
        </p:nvSpPr>
        <p:spPr>
          <a:xfrm>
            <a:off x="4758854" y="3627016"/>
            <a:ext cx="1694185" cy="381446"/>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000000"/>
                </a:solidFill>
                <a:latin typeface="Epilogue" panose="020B0604020202020204" charset="0"/>
                <a:ea typeface="Twemoji Mozilla" pitchFamily="34" charset="-122"/>
                <a:cs typeface="Twemoji Mozilla" pitchFamily="34" charset="-120"/>
              </a:rPr>
              <a:t>✈️</a:t>
            </a:r>
            <a:r>
              <a:rPr lang="en-US" sz="1200" dirty="0">
                <a:solidFill>
                  <a:srgbClr val="EBECEF"/>
                </a:solidFill>
                <a:latin typeface="Fraunces Medium" pitchFamily="34" charset="0"/>
                <a:ea typeface="Fraunces Medium" pitchFamily="34" charset="-122"/>
                <a:cs typeface="Fraunces Medium" pitchFamily="34" charset="-120"/>
              </a:rPr>
              <a:t> Frequent Business Travel</a:t>
            </a:r>
            <a:endParaRPr lang="en-US" sz="1200" dirty="0"/>
          </a:p>
        </p:txBody>
      </p:sp>
      <p:sp>
        <p:nvSpPr>
          <p:cNvPr id="16" name="Text 12"/>
          <p:cNvSpPr/>
          <p:nvPr/>
        </p:nvSpPr>
        <p:spPr>
          <a:xfrm>
            <a:off x="4758854" y="4080570"/>
            <a:ext cx="1694185" cy="387697"/>
          </a:xfrm>
          <a:prstGeom prst="rect">
            <a:avLst/>
          </a:prstGeom>
          <a:noFill/>
          <a:ln/>
        </p:spPr>
        <p:txBody>
          <a:bodyPr wrap="square" lIns="0" tIns="0" rIns="0" bIns="0" rtlCol="0" anchor="t">
            <a:normAutofit/>
          </a:bodyPr>
          <a:lstStyle/>
          <a:p>
            <a:pPr marL="0" indent="0" algn="l">
              <a:lnSpc>
                <a:spcPct val="132000"/>
              </a:lnSpc>
              <a:buNone/>
            </a:pPr>
            <a:r>
              <a:rPr lang="en-US" sz="950" b="1" dirty="0">
                <a:solidFill>
                  <a:srgbClr val="EBECEF"/>
                </a:solidFill>
                <a:latin typeface="Epilogue Bold" pitchFamily="34" charset="0"/>
                <a:ea typeface="Epilogue Bold" pitchFamily="34" charset="-122"/>
                <a:cs typeface="Epilogue Bold" pitchFamily="34" charset="-120"/>
              </a:rPr>
              <a:t>24.9%</a:t>
            </a:r>
            <a:r>
              <a:rPr lang="en-US" sz="950" dirty="0">
                <a:solidFill>
                  <a:srgbClr val="EBECEF"/>
                </a:solidFill>
                <a:latin typeface="Epilogue" pitchFamily="34" charset="0"/>
                <a:ea typeface="Epilogue" pitchFamily="34" charset="-122"/>
                <a:cs typeface="Epilogue" pitchFamily="34" charset="-120"/>
              </a:rPr>
              <a:t> attrition among frequent travelers</a:t>
            </a:r>
            <a:endParaRPr lang="en-US" sz="950" dirty="0"/>
          </a:p>
        </p:txBody>
      </p:sp>
      <p:sp>
        <p:nvSpPr>
          <p:cNvPr id="17" name="Shape 13"/>
          <p:cNvSpPr/>
          <p:nvPr/>
        </p:nvSpPr>
        <p:spPr>
          <a:xfrm>
            <a:off x="6700019" y="3500214"/>
            <a:ext cx="1947863" cy="1288703"/>
          </a:xfrm>
          <a:prstGeom prst="roundRect">
            <a:avLst>
              <a:gd name="adj" fmla="val 3980"/>
            </a:avLst>
          </a:prstGeom>
          <a:solidFill>
            <a:srgbClr val="283157"/>
          </a:solidFill>
          <a:ln w="4763">
            <a:solidFill>
              <a:srgbClr val="414A70"/>
            </a:solidFill>
            <a:prstDash val="solid"/>
          </a:ln>
        </p:spPr>
      </p:sp>
      <p:sp>
        <p:nvSpPr>
          <p:cNvPr id="18" name="Text 14"/>
          <p:cNvSpPr/>
          <p:nvPr/>
        </p:nvSpPr>
        <p:spPr>
          <a:xfrm>
            <a:off x="6826821" y="3627016"/>
            <a:ext cx="1694259" cy="190723"/>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Epilogue" panose="020B0604020202020204" charset="0"/>
                <a:ea typeface="Twemoji Mozilla" pitchFamily="34" charset="-122"/>
                <a:cs typeface="Twemoji Mozilla" pitchFamily="34" charset="-120"/>
              </a:rPr>
              <a:t>💰</a:t>
            </a:r>
            <a:r>
              <a:rPr lang="en-US" sz="1200" dirty="0">
                <a:solidFill>
                  <a:srgbClr val="EBECEF"/>
                </a:solidFill>
                <a:latin typeface="Fraunces Medium" pitchFamily="34" charset="0"/>
                <a:ea typeface="Fraunces Medium" pitchFamily="34" charset="-122"/>
                <a:cs typeface="Fraunces Medium" pitchFamily="34" charset="-120"/>
              </a:rPr>
              <a:t> Low Salary Band</a:t>
            </a:r>
            <a:endParaRPr lang="en-US" sz="1200" dirty="0"/>
          </a:p>
        </p:txBody>
      </p:sp>
      <p:sp>
        <p:nvSpPr>
          <p:cNvPr id="19" name="Text 15"/>
          <p:cNvSpPr/>
          <p:nvPr/>
        </p:nvSpPr>
        <p:spPr>
          <a:xfrm>
            <a:off x="6826821" y="3889846"/>
            <a:ext cx="1694259" cy="387697"/>
          </a:xfrm>
          <a:prstGeom prst="rect">
            <a:avLst/>
          </a:prstGeom>
          <a:noFill/>
          <a:ln/>
        </p:spPr>
        <p:txBody>
          <a:bodyPr wrap="square" lIns="0" tIns="0" rIns="0" bIns="0" rtlCol="0" anchor="t">
            <a:normAutofit/>
          </a:bodyPr>
          <a:lstStyle/>
          <a:p>
            <a:pPr marL="0" indent="0" algn="l">
              <a:lnSpc>
                <a:spcPct val="132000"/>
              </a:lnSpc>
              <a:buNone/>
            </a:pPr>
            <a:r>
              <a:rPr lang="en-US" sz="950" b="1" dirty="0">
                <a:solidFill>
                  <a:srgbClr val="EBECEF"/>
                </a:solidFill>
                <a:latin typeface="Epilogue Bold" pitchFamily="34" charset="0"/>
                <a:ea typeface="Epilogue Bold" pitchFamily="34" charset="-122"/>
                <a:cs typeface="Epilogue Bold" pitchFamily="34" charset="-120"/>
              </a:rPr>
              <a:t>28.6%</a:t>
            </a:r>
            <a:r>
              <a:rPr lang="en-US" sz="950" dirty="0">
                <a:solidFill>
                  <a:srgbClr val="EBECEF"/>
                </a:solidFill>
                <a:latin typeface="Epilogue" pitchFamily="34" charset="0"/>
                <a:ea typeface="Epilogue" pitchFamily="34" charset="-122"/>
                <a:cs typeface="Epilogue" pitchFamily="34" charset="-120"/>
              </a:rPr>
              <a:t> attrition in the lowest compensation tier</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sp>
        <p:nvSpPr>
          <p:cNvPr id="2" name="Text 0"/>
          <p:cNvSpPr/>
          <p:nvPr/>
        </p:nvSpPr>
        <p:spPr>
          <a:xfrm>
            <a:off x="496119" y="343867"/>
            <a:ext cx="8151763" cy="363364"/>
          </a:xfrm>
          <a:prstGeom prst="rect">
            <a:avLst/>
          </a:prstGeom>
          <a:noFill/>
          <a:ln/>
        </p:spPr>
        <p:txBody>
          <a:bodyPr wrap="none" lIns="0" tIns="0" rIns="0" bIns="0" rtlCol="0" anchor="t"/>
          <a:lstStyle/>
          <a:p>
            <a:pPr marL="0" indent="0" algn="l">
              <a:lnSpc>
                <a:spcPct val="104000"/>
              </a:lnSpc>
              <a:buNone/>
            </a:pPr>
            <a:r>
              <a:rPr lang="en-US" sz="2250" dirty="0">
                <a:solidFill>
                  <a:srgbClr val="FFFFFF"/>
                </a:solidFill>
                <a:latin typeface="Fraunces Medium" pitchFamily="34" charset="0"/>
                <a:ea typeface="Fraunces Medium" pitchFamily="34" charset="-122"/>
                <a:cs typeface="Fraunces Medium" pitchFamily="34" charset="-120"/>
              </a:rPr>
              <a:t>Employee Risk Analysis</a:t>
            </a:r>
            <a:endParaRPr lang="en-US" sz="2250" dirty="0"/>
          </a:p>
        </p:txBody>
      </p:sp>
      <p:sp>
        <p:nvSpPr>
          <p:cNvPr id="3" name="Text 1"/>
          <p:cNvSpPr/>
          <p:nvPr/>
        </p:nvSpPr>
        <p:spPr>
          <a:xfrm>
            <a:off x="267519" y="925264"/>
            <a:ext cx="8608963" cy="180231"/>
          </a:xfrm>
          <a:prstGeom prst="rect">
            <a:avLst/>
          </a:prstGeom>
          <a:noFill/>
          <a:ln/>
        </p:spPr>
        <p:txBody>
          <a:bodyPr wrap="none" lIns="0" tIns="0" rIns="0" bIns="0" rtlCol="0" anchor="t"/>
          <a:lstStyle/>
          <a:p>
            <a:pPr marL="0" indent="0" algn="ctr">
              <a:lnSpc>
                <a:spcPct val="129000"/>
              </a:lnSpc>
              <a:buNone/>
            </a:pPr>
            <a:r>
              <a:rPr lang="en-US" sz="900" dirty="0">
                <a:solidFill>
                  <a:srgbClr val="EBECEF"/>
                </a:solidFill>
                <a:latin typeface="Epilogue" pitchFamily="34" charset="0"/>
                <a:ea typeface="Epilogue" pitchFamily="34" charset="-122"/>
                <a:cs typeface="Epilogue" pitchFamily="34" charset="-120"/>
              </a:rPr>
              <a:t>            </a:t>
            </a:r>
            <a:endParaRPr lang="en-US" sz="900" dirty="0"/>
          </a:p>
        </p:txBody>
      </p:sp>
      <p:pic>
        <p:nvPicPr>
          <p:cNvPr id="4" name="Image 0" descr="preencoded.png"/>
          <p:cNvPicPr>
            <a:picLocks noChangeAspect="1"/>
          </p:cNvPicPr>
          <p:nvPr/>
        </p:nvPicPr>
        <p:blipFill>
          <a:blip r:embed="rId3"/>
          <a:stretch>
            <a:fillRect/>
          </a:stretch>
        </p:blipFill>
        <p:spPr>
          <a:xfrm>
            <a:off x="496119" y="925264"/>
            <a:ext cx="8608962" cy="42182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2" name="Text 0"/>
          <p:cNvSpPr/>
          <p:nvPr/>
        </p:nvSpPr>
        <p:spPr>
          <a:xfrm>
            <a:off x="496119" y="343346"/>
            <a:ext cx="8151763" cy="387548"/>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Fraunces Medium" pitchFamily="34" charset="0"/>
                <a:ea typeface="Fraunces Medium" pitchFamily="34" charset="-122"/>
                <a:cs typeface="Fraunces Medium" pitchFamily="34" charset="-120"/>
              </a:rPr>
              <a:t>Security &amp; Strategic Recommendations</a:t>
            </a:r>
            <a:endParaRPr lang="en-US" sz="2400" dirty="0"/>
          </a:p>
        </p:txBody>
      </p:sp>
      <p:sp>
        <p:nvSpPr>
          <p:cNvPr id="3" name="Text 1"/>
          <p:cNvSpPr/>
          <p:nvPr/>
        </p:nvSpPr>
        <p:spPr>
          <a:xfrm>
            <a:off x="496119" y="780455"/>
            <a:ext cx="8151763" cy="19384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Fraunces Medium" pitchFamily="34" charset="0"/>
                <a:ea typeface="Fraunces Medium" pitchFamily="34" charset="-122"/>
                <a:cs typeface="Fraunces Medium" pitchFamily="34" charset="-120"/>
              </a:rPr>
              <a:t>Role-Based Access (RLS)</a:t>
            </a:r>
            <a:endParaRPr lang="en-US" sz="1200" dirty="0"/>
          </a:p>
        </p:txBody>
      </p:sp>
      <p:sp>
        <p:nvSpPr>
          <p:cNvPr id="4" name="Text 2"/>
          <p:cNvSpPr/>
          <p:nvPr/>
        </p:nvSpPr>
        <p:spPr>
          <a:xfrm>
            <a:off x="496119" y="1160338"/>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BECEF"/>
                </a:solidFill>
                <a:latin typeface="Epilogue" pitchFamily="34" charset="0"/>
                <a:ea typeface="Epilogue" pitchFamily="34" charset="-122"/>
                <a:cs typeface="Epilogue" pitchFamily="34" charset="-120"/>
              </a:rPr>
              <a:t>Role-Based Access ensures that sensitive employee data is visible only to authorized users. This control framework strengthens data security, supports compliance, and gives each leader access only to the information needed for their responsibilities.</a:t>
            </a:r>
            <a:endParaRPr lang="en-US" sz="95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1696789"/>
            <a:ext cx="2634555" cy="941710"/>
          </a:xfrm>
          <a:prstGeom prst="rect">
            <a:avLst/>
          </a:prstGeom>
        </p:spPr>
      </p:pic>
      <p:sp>
        <p:nvSpPr>
          <p:cNvPr id="6" name="Text 3"/>
          <p:cNvSpPr/>
          <p:nvPr/>
        </p:nvSpPr>
        <p:spPr>
          <a:xfrm>
            <a:off x="691530" y="1835051"/>
            <a:ext cx="2300883" cy="193849"/>
          </a:xfrm>
          <a:prstGeom prst="rect">
            <a:avLst/>
          </a:prstGeom>
          <a:noFill/>
          <a:ln/>
        </p:spPr>
        <p:txBody>
          <a:bodyPr wrap="none" lIns="0" tIns="0" rIns="0" bIns="0" rtlCol="0" anchor="t"/>
          <a:lstStyle/>
          <a:p>
            <a:pPr marL="0" indent="0" algn="l">
              <a:lnSpc>
                <a:spcPct val="104000"/>
              </a:lnSpc>
              <a:buNone/>
            </a:pPr>
            <a:r>
              <a:rPr lang="en-US" sz="1200" dirty="0">
                <a:solidFill>
                  <a:srgbClr val="EBECEF"/>
                </a:solidFill>
                <a:latin typeface="Fraunces Medium" pitchFamily="34" charset="0"/>
                <a:ea typeface="Fraunces Medium" pitchFamily="34" charset="-122"/>
                <a:cs typeface="Fraunces Medium" pitchFamily="34" charset="-120"/>
              </a:rPr>
              <a:t>Chairman</a:t>
            </a:r>
            <a:endParaRPr lang="en-US" sz="1200" dirty="0"/>
          </a:p>
        </p:txBody>
      </p:sp>
      <p:sp>
        <p:nvSpPr>
          <p:cNvPr id="7" name="Text 4"/>
          <p:cNvSpPr/>
          <p:nvPr/>
        </p:nvSpPr>
        <p:spPr>
          <a:xfrm>
            <a:off x="691530" y="2103313"/>
            <a:ext cx="2300883" cy="396925"/>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EBECEF"/>
                </a:solidFill>
                <a:latin typeface="Epilogue Bold" pitchFamily="34" charset="0"/>
                <a:ea typeface="Epilogue Bold" pitchFamily="34" charset="-122"/>
                <a:cs typeface="Epilogue Bold" pitchFamily="34" charset="-120"/>
              </a:rPr>
              <a:t>Full dashboard access</a:t>
            </a:r>
            <a:endParaRPr lang="en-US" sz="950" dirty="0"/>
          </a:p>
          <a:p>
            <a:pPr marL="0" indent="0" algn="l">
              <a:lnSpc>
                <a:spcPct val="133000"/>
              </a:lnSpc>
              <a:buNone/>
            </a:pPr>
            <a:r>
              <a:rPr lang="en-US" sz="950" dirty="0">
                <a:solidFill>
                  <a:srgbClr val="EBECEF"/>
                </a:solidFill>
                <a:latin typeface="Epilogue" pitchFamily="34" charset="0"/>
                <a:ea typeface="Epilogue" pitchFamily="34" charset="-122"/>
                <a:cs typeface="Epilogue" pitchFamily="34" charset="-120"/>
              </a:rPr>
              <a:t>All departments and metrics</a:t>
            </a:r>
            <a:endParaRPr lang="en-US" sz="950" dirty="0"/>
          </a:p>
        </p:txBody>
      </p:sp>
      <p:pic>
        <p:nvPicPr>
          <p:cNvPr id="8"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54648" y="1696789"/>
            <a:ext cx="2634630" cy="941710"/>
          </a:xfrm>
          <a:prstGeom prst="rect">
            <a:avLst/>
          </a:prstGeom>
        </p:spPr>
      </p:pic>
      <p:sp>
        <p:nvSpPr>
          <p:cNvPr id="9" name="Text 5"/>
          <p:cNvSpPr/>
          <p:nvPr/>
        </p:nvSpPr>
        <p:spPr>
          <a:xfrm>
            <a:off x="3450059" y="1835051"/>
            <a:ext cx="2300957" cy="193849"/>
          </a:xfrm>
          <a:prstGeom prst="rect">
            <a:avLst/>
          </a:prstGeom>
          <a:noFill/>
          <a:ln/>
        </p:spPr>
        <p:txBody>
          <a:bodyPr wrap="none" lIns="0" tIns="0" rIns="0" bIns="0" rtlCol="0" anchor="t"/>
          <a:lstStyle/>
          <a:p>
            <a:pPr marL="0" indent="0" algn="l">
              <a:lnSpc>
                <a:spcPct val="104000"/>
              </a:lnSpc>
              <a:buNone/>
            </a:pPr>
            <a:r>
              <a:rPr lang="en-US" sz="1200" dirty="0">
                <a:solidFill>
                  <a:srgbClr val="EBECEF"/>
                </a:solidFill>
                <a:latin typeface="Fraunces Medium" pitchFamily="34" charset="0"/>
                <a:ea typeface="Fraunces Medium" pitchFamily="34" charset="-122"/>
                <a:cs typeface="Fraunces Medium" pitchFamily="34" charset="-120"/>
              </a:rPr>
              <a:t>HR Director</a:t>
            </a:r>
            <a:endParaRPr lang="en-US" sz="1200" dirty="0"/>
          </a:p>
        </p:txBody>
      </p:sp>
      <p:sp>
        <p:nvSpPr>
          <p:cNvPr id="10" name="Text 6"/>
          <p:cNvSpPr/>
          <p:nvPr/>
        </p:nvSpPr>
        <p:spPr>
          <a:xfrm>
            <a:off x="3450059" y="2103313"/>
            <a:ext cx="2300957" cy="396925"/>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EBECEF"/>
                </a:solidFill>
                <a:latin typeface="Epilogue Bold" pitchFamily="34" charset="0"/>
                <a:ea typeface="Epilogue Bold" pitchFamily="34" charset="-122"/>
                <a:cs typeface="Epilogue Bold" pitchFamily="34" charset="-120"/>
              </a:rPr>
              <a:t>Full dashboard access</a:t>
            </a:r>
            <a:endParaRPr lang="en-US" sz="950" dirty="0"/>
          </a:p>
          <a:p>
            <a:pPr marL="0" indent="0" algn="l">
              <a:lnSpc>
                <a:spcPct val="133000"/>
              </a:lnSpc>
              <a:buNone/>
            </a:pPr>
            <a:r>
              <a:rPr lang="en-US" sz="950" dirty="0">
                <a:solidFill>
                  <a:srgbClr val="EBECEF"/>
                </a:solidFill>
                <a:latin typeface="Epilogue" pitchFamily="34" charset="0"/>
                <a:ea typeface="Epilogue" pitchFamily="34" charset="-122"/>
                <a:cs typeface="Epilogue" pitchFamily="34" charset="-120"/>
              </a:rPr>
              <a:t>All departments and metrics</a:t>
            </a:r>
            <a:endParaRPr lang="en-US" sz="950" dirty="0"/>
          </a:p>
        </p:txBody>
      </p:sp>
      <p:pic>
        <p:nvPicPr>
          <p:cNvPr id="11"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13252" y="1696789"/>
            <a:ext cx="2634555" cy="941710"/>
          </a:xfrm>
          <a:prstGeom prst="rect">
            <a:avLst/>
          </a:prstGeom>
        </p:spPr>
      </p:pic>
      <p:sp>
        <p:nvSpPr>
          <p:cNvPr id="12" name="Text 7"/>
          <p:cNvSpPr/>
          <p:nvPr/>
        </p:nvSpPr>
        <p:spPr>
          <a:xfrm>
            <a:off x="6208663" y="1835051"/>
            <a:ext cx="2300883" cy="193849"/>
          </a:xfrm>
          <a:prstGeom prst="rect">
            <a:avLst/>
          </a:prstGeom>
          <a:noFill/>
          <a:ln/>
        </p:spPr>
        <p:txBody>
          <a:bodyPr wrap="none" lIns="0" tIns="0" rIns="0" bIns="0" rtlCol="0" anchor="t"/>
          <a:lstStyle/>
          <a:p>
            <a:pPr marL="0" indent="0" algn="l">
              <a:lnSpc>
                <a:spcPct val="104000"/>
              </a:lnSpc>
              <a:buNone/>
            </a:pPr>
            <a:r>
              <a:rPr lang="en-US" sz="1200" dirty="0">
                <a:solidFill>
                  <a:srgbClr val="EBECEF"/>
                </a:solidFill>
                <a:latin typeface="Fraunces Medium" pitchFamily="34" charset="0"/>
                <a:ea typeface="Fraunces Medium" pitchFamily="34" charset="-122"/>
                <a:cs typeface="Fraunces Medium" pitchFamily="34" charset="-120"/>
              </a:rPr>
              <a:t>Department Managers</a:t>
            </a:r>
            <a:endParaRPr lang="en-US" sz="1200" dirty="0"/>
          </a:p>
        </p:txBody>
      </p:sp>
      <p:sp>
        <p:nvSpPr>
          <p:cNvPr id="13" name="Text 8"/>
          <p:cNvSpPr/>
          <p:nvPr/>
        </p:nvSpPr>
        <p:spPr>
          <a:xfrm>
            <a:off x="6208663" y="2103313"/>
            <a:ext cx="2300883" cy="396925"/>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EBECEF"/>
                </a:solidFill>
                <a:latin typeface="Epilogue Bold" pitchFamily="34" charset="0"/>
                <a:ea typeface="Epilogue Bold" pitchFamily="34" charset="-122"/>
                <a:cs typeface="Epilogue Bold" pitchFamily="34" charset="-120"/>
              </a:rPr>
              <a:t>Scoped access</a:t>
            </a:r>
            <a:endParaRPr lang="en-US" sz="950" dirty="0"/>
          </a:p>
          <a:p>
            <a:pPr marL="0" indent="0" algn="l">
              <a:lnSpc>
                <a:spcPct val="133000"/>
              </a:lnSpc>
              <a:buNone/>
            </a:pPr>
            <a:r>
              <a:rPr lang="en-US" sz="950" dirty="0">
                <a:solidFill>
                  <a:srgbClr val="EBECEF"/>
                </a:solidFill>
                <a:latin typeface="Epilogue" pitchFamily="34" charset="0"/>
                <a:ea typeface="Epilogue" pitchFamily="34" charset="-122"/>
                <a:cs typeface="Epilogue" pitchFamily="34" charset="-120"/>
              </a:rPr>
              <a:t>Own department data only</a:t>
            </a:r>
            <a:endParaRPr lang="en-US" sz="950" dirty="0"/>
          </a:p>
        </p:txBody>
      </p:sp>
      <p:sp>
        <p:nvSpPr>
          <p:cNvPr id="14" name="Shape 9"/>
          <p:cNvSpPr/>
          <p:nvPr/>
        </p:nvSpPr>
        <p:spPr>
          <a:xfrm>
            <a:off x="496119" y="2808982"/>
            <a:ext cx="8151763" cy="14288"/>
          </a:xfrm>
          <a:prstGeom prst="roundRect">
            <a:avLst>
              <a:gd name="adj" fmla="val 59998"/>
            </a:avLst>
          </a:prstGeom>
          <a:solidFill>
            <a:srgbClr val="EBECEF">
              <a:alpha val="50000"/>
            </a:srgbClr>
          </a:solidFill>
          <a:ln/>
        </p:spPr>
      </p:sp>
      <p:sp>
        <p:nvSpPr>
          <p:cNvPr id="15" name="Text 10"/>
          <p:cNvSpPr/>
          <p:nvPr/>
        </p:nvSpPr>
        <p:spPr>
          <a:xfrm>
            <a:off x="496119" y="3040261"/>
            <a:ext cx="8151763" cy="19384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Fraunces Medium" pitchFamily="34" charset="0"/>
                <a:ea typeface="Fraunces Medium" pitchFamily="34" charset="-122"/>
                <a:cs typeface="Fraunces Medium" pitchFamily="34" charset="-120"/>
              </a:rPr>
              <a:t>Strategic Recommendations</a:t>
            </a:r>
            <a:endParaRPr lang="en-US" sz="1200" dirty="0"/>
          </a:p>
        </p:txBody>
      </p:sp>
      <p:pic>
        <p:nvPicPr>
          <p:cNvPr id="16" name="Image 3"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1831" y="3405857"/>
            <a:ext cx="2628156" cy="693762"/>
          </a:xfrm>
          <a:prstGeom prst="rect">
            <a:avLst/>
          </a:prstGeom>
        </p:spPr>
      </p:pic>
      <p:sp>
        <p:nvSpPr>
          <p:cNvPr id="17" name="Text 11"/>
          <p:cNvSpPr/>
          <p:nvPr/>
        </p:nvSpPr>
        <p:spPr>
          <a:xfrm>
            <a:off x="648667" y="3420145"/>
            <a:ext cx="2461320" cy="193849"/>
          </a:xfrm>
          <a:prstGeom prst="rect">
            <a:avLst/>
          </a:prstGeom>
          <a:noFill/>
          <a:ln/>
        </p:spPr>
        <p:txBody>
          <a:bodyPr wrap="none" lIns="0" tIns="0" rIns="0" bIns="0" rtlCol="0" anchor="t"/>
          <a:lstStyle/>
          <a:p>
            <a:pPr marL="0" indent="0" algn="ctr">
              <a:lnSpc>
                <a:spcPct val="104000"/>
              </a:lnSpc>
              <a:buNone/>
            </a:pPr>
            <a:r>
              <a:rPr lang="en-US" sz="1200" dirty="0">
                <a:solidFill>
                  <a:srgbClr val="EBECEF"/>
                </a:solidFill>
                <a:latin typeface="Fraunces Medium" pitchFamily="34" charset="0"/>
                <a:ea typeface="Fraunces Medium" pitchFamily="34" charset="-122"/>
                <a:cs typeface="Fraunces Medium" pitchFamily="34" charset="-120"/>
              </a:rPr>
              <a:t>Reduce Overtime</a:t>
            </a:r>
            <a:endParaRPr lang="en-US" sz="1200" dirty="0"/>
          </a:p>
        </p:txBody>
      </p:sp>
      <p:sp>
        <p:nvSpPr>
          <p:cNvPr id="18" name="Text 12"/>
          <p:cNvSpPr/>
          <p:nvPr/>
        </p:nvSpPr>
        <p:spPr>
          <a:xfrm>
            <a:off x="648667" y="3688407"/>
            <a:ext cx="2461320" cy="396925"/>
          </a:xfrm>
          <a:prstGeom prst="rect">
            <a:avLst/>
          </a:prstGeom>
          <a:noFill/>
          <a:ln/>
        </p:spPr>
        <p:txBody>
          <a:bodyPr wrap="square" lIns="0" tIns="0" rIns="0" bIns="0" rtlCol="0" anchor="t">
            <a:normAutofit/>
          </a:bodyPr>
          <a:lstStyle/>
          <a:p>
            <a:pPr marL="0" indent="0" algn="ctr">
              <a:lnSpc>
                <a:spcPct val="133000"/>
              </a:lnSpc>
              <a:buNone/>
            </a:pPr>
            <a:r>
              <a:rPr lang="en-US" sz="950" dirty="0">
                <a:solidFill>
                  <a:srgbClr val="EBECEF"/>
                </a:solidFill>
                <a:latin typeface="Epilogue" pitchFamily="34" charset="0"/>
                <a:ea typeface="Epilogue" pitchFamily="34" charset="-122"/>
                <a:cs typeface="Epilogue" pitchFamily="34" charset="-120"/>
              </a:rPr>
              <a:t>Redistribute workload to lower burnout-driven attrition</a:t>
            </a:r>
            <a:endParaRPr lang="en-US" sz="950" dirty="0"/>
          </a:p>
        </p:txBody>
      </p:sp>
      <p:pic>
        <p:nvPicPr>
          <p:cNvPr id="19"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50704" y="3405857"/>
            <a:ext cx="2628230" cy="693762"/>
          </a:xfrm>
          <a:prstGeom prst="rect">
            <a:avLst/>
          </a:prstGeom>
        </p:spPr>
      </p:pic>
      <p:sp>
        <p:nvSpPr>
          <p:cNvPr id="20" name="Text 13"/>
          <p:cNvSpPr/>
          <p:nvPr/>
        </p:nvSpPr>
        <p:spPr>
          <a:xfrm>
            <a:off x="3417540" y="3420145"/>
            <a:ext cx="2461394" cy="193849"/>
          </a:xfrm>
          <a:prstGeom prst="rect">
            <a:avLst/>
          </a:prstGeom>
          <a:noFill/>
          <a:ln/>
        </p:spPr>
        <p:txBody>
          <a:bodyPr wrap="none" lIns="0" tIns="0" rIns="0" bIns="0" rtlCol="0" anchor="t"/>
          <a:lstStyle/>
          <a:p>
            <a:pPr marL="0" indent="0" algn="ctr">
              <a:lnSpc>
                <a:spcPct val="104000"/>
              </a:lnSpc>
              <a:buNone/>
            </a:pPr>
            <a:r>
              <a:rPr lang="en-US" sz="1200" dirty="0">
                <a:solidFill>
                  <a:srgbClr val="EBECEF"/>
                </a:solidFill>
                <a:latin typeface="Fraunces Medium" pitchFamily="34" charset="0"/>
                <a:ea typeface="Fraunces Medium" pitchFamily="34" charset="-122"/>
                <a:cs typeface="Fraunces Medium" pitchFamily="34" charset="-120"/>
              </a:rPr>
              <a:t>Improve Onboarding</a:t>
            </a:r>
            <a:endParaRPr lang="en-US" sz="1200" dirty="0"/>
          </a:p>
        </p:txBody>
      </p:sp>
      <p:sp>
        <p:nvSpPr>
          <p:cNvPr id="21" name="Text 14"/>
          <p:cNvSpPr/>
          <p:nvPr/>
        </p:nvSpPr>
        <p:spPr>
          <a:xfrm>
            <a:off x="3417540" y="3688407"/>
            <a:ext cx="2461394" cy="396925"/>
          </a:xfrm>
          <a:prstGeom prst="rect">
            <a:avLst/>
          </a:prstGeom>
          <a:noFill/>
          <a:ln/>
        </p:spPr>
        <p:txBody>
          <a:bodyPr wrap="square" lIns="0" tIns="0" rIns="0" bIns="0" rtlCol="0" anchor="t">
            <a:normAutofit/>
          </a:bodyPr>
          <a:lstStyle/>
          <a:p>
            <a:pPr marL="0" indent="0" algn="ctr">
              <a:lnSpc>
                <a:spcPct val="133000"/>
              </a:lnSpc>
              <a:buNone/>
            </a:pPr>
            <a:r>
              <a:rPr lang="en-US" sz="950" dirty="0">
                <a:solidFill>
                  <a:srgbClr val="EBECEF"/>
                </a:solidFill>
                <a:latin typeface="Epilogue" pitchFamily="34" charset="0"/>
                <a:ea typeface="Epilogue" pitchFamily="34" charset="-122"/>
                <a:cs typeface="Epilogue" pitchFamily="34" charset="-120"/>
              </a:rPr>
              <a:t>Strengthen early-career support for new hires</a:t>
            </a:r>
            <a:endParaRPr lang="en-US" sz="950" dirty="0"/>
          </a:p>
        </p:txBody>
      </p:sp>
      <p:pic>
        <p:nvPicPr>
          <p:cNvPr id="22" name="Image 5"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19651" y="3405857"/>
            <a:ext cx="2628230" cy="693762"/>
          </a:xfrm>
          <a:prstGeom prst="rect">
            <a:avLst/>
          </a:prstGeom>
        </p:spPr>
      </p:pic>
      <p:sp>
        <p:nvSpPr>
          <p:cNvPr id="23" name="Text 15"/>
          <p:cNvSpPr/>
          <p:nvPr/>
        </p:nvSpPr>
        <p:spPr>
          <a:xfrm>
            <a:off x="6186488" y="3420145"/>
            <a:ext cx="2461394" cy="193849"/>
          </a:xfrm>
          <a:prstGeom prst="rect">
            <a:avLst/>
          </a:prstGeom>
          <a:noFill/>
          <a:ln/>
        </p:spPr>
        <p:txBody>
          <a:bodyPr wrap="none" lIns="0" tIns="0" rIns="0" bIns="0" rtlCol="0" anchor="t"/>
          <a:lstStyle/>
          <a:p>
            <a:pPr marL="0" indent="0" algn="ctr">
              <a:lnSpc>
                <a:spcPct val="104000"/>
              </a:lnSpc>
              <a:buNone/>
            </a:pPr>
            <a:r>
              <a:rPr lang="en-US" sz="1200" dirty="0">
                <a:solidFill>
                  <a:srgbClr val="EBECEF"/>
                </a:solidFill>
                <a:latin typeface="Fraunces Medium" pitchFamily="34" charset="0"/>
                <a:ea typeface="Fraunces Medium" pitchFamily="34" charset="-122"/>
                <a:cs typeface="Fraunces Medium" pitchFamily="34" charset="-120"/>
              </a:rPr>
              <a:t>Increase Engagement</a:t>
            </a:r>
            <a:endParaRPr lang="en-US" sz="1200" dirty="0"/>
          </a:p>
        </p:txBody>
      </p:sp>
      <p:sp>
        <p:nvSpPr>
          <p:cNvPr id="24" name="Text 16"/>
          <p:cNvSpPr/>
          <p:nvPr/>
        </p:nvSpPr>
        <p:spPr>
          <a:xfrm>
            <a:off x="6186488" y="3688407"/>
            <a:ext cx="2461394" cy="396925"/>
          </a:xfrm>
          <a:prstGeom prst="rect">
            <a:avLst/>
          </a:prstGeom>
          <a:noFill/>
          <a:ln/>
        </p:spPr>
        <p:txBody>
          <a:bodyPr wrap="square" lIns="0" tIns="0" rIns="0" bIns="0" rtlCol="0" anchor="t">
            <a:normAutofit/>
          </a:bodyPr>
          <a:lstStyle/>
          <a:p>
            <a:pPr marL="0" indent="0" algn="ctr">
              <a:lnSpc>
                <a:spcPct val="133000"/>
              </a:lnSpc>
              <a:buNone/>
            </a:pPr>
            <a:r>
              <a:rPr lang="en-US" sz="950" dirty="0">
                <a:solidFill>
                  <a:srgbClr val="EBECEF"/>
                </a:solidFill>
                <a:latin typeface="Epilogue" pitchFamily="34" charset="0"/>
                <a:ea typeface="Epilogue" pitchFamily="34" charset="-122"/>
                <a:cs typeface="Epilogue" pitchFamily="34" charset="-120"/>
              </a:rPr>
              <a:t>Launch targeted programs to improve job satisfaction</a:t>
            </a:r>
            <a:endParaRPr lang="en-US" sz="950" dirty="0"/>
          </a:p>
        </p:txBody>
      </p:sp>
      <p:pic>
        <p:nvPicPr>
          <p:cNvPr id="25" name="Image 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1831" y="4319067"/>
            <a:ext cx="4012629" cy="495300"/>
          </a:xfrm>
          <a:prstGeom prst="rect">
            <a:avLst/>
          </a:prstGeom>
        </p:spPr>
      </p:pic>
      <p:sp>
        <p:nvSpPr>
          <p:cNvPr id="26" name="Text 17"/>
          <p:cNvSpPr/>
          <p:nvPr/>
        </p:nvSpPr>
        <p:spPr>
          <a:xfrm>
            <a:off x="648667" y="4333354"/>
            <a:ext cx="3845793" cy="193849"/>
          </a:xfrm>
          <a:prstGeom prst="rect">
            <a:avLst/>
          </a:prstGeom>
          <a:noFill/>
          <a:ln/>
        </p:spPr>
        <p:txBody>
          <a:bodyPr wrap="none" lIns="0" tIns="0" rIns="0" bIns="0" rtlCol="0" anchor="t"/>
          <a:lstStyle/>
          <a:p>
            <a:pPr marL="0" indent="0" algn="ctr">
              <a:lnSpc>
                <a:spcPct val="104000"/>
              </a:lnSpc>
              <a:buNone/>
            </a:pPr>
            <a:r>
              <a:rPr lang="en-US" sz="1200" dirty="0">
                <a:solidFill>
                  <a:srgbClr val="EBECEF"/>
                </a:solidFill>
                <a:latin typeface="Fraunces Medium" pitchFamily="34" charset="0"/>
                <a:ea typeface="Fraunces Medium" pitchFamily="34" charset="-122"/>
                <a:cs typeface="Fraunces Medium" pitchFamily="34" charset="-120"/>
              </a:rPr>
              <a:t>Review Salary Strategy</a:t>
            </a:r>
            <a:endParaRPr lang="en-US" sz="1200" dirty="0"/>
          </a:p>
        </p:txBody>
      </p:sp>
      <p:sp>
        <p:nvSpPr>
          <p:cNvPr id="27" name="Text 18"/>
          <p:cNvSpPr/>
          <p:nvPr/>
        </p:nvSpPr>
        <p:spPr>
          <a:xfrm>
            <a:off x="648667" y="4601617"/>
            <a:ext cx="3845793" cy="198462"/>
          </a:xfrm>
          <a:prstGeom prst="rect">
            <a:avLst/>
          </a:prstGeom>
          <a:noFill/>
          <a:ln/>
        </p:spPr>
        <p:txBody>
          <a:bodyPr wrap="none" lIns="0" tIns="0" rIns="0" bIns="0" rtlCol="0" anchor="t"/>
          <a:lstStyle/>
          <a:p>
            <a:pPr marL="0" indent="0" algn="ctr">
              <a:lnSpc>
                <a:spcPct val="133000"/>
              </a:lnSpc>
              <a:buNone/>
            </a:pPr>
            <a:r>
              <a:rPr lang="en-US" sz="950" dirty="0">
                <a:solidFill>
                  <a:srgbClr val="EBECEF"/>
                </a:solidFill>
                <a:latin typeface="Epilogue" pitchFamily="34" charset="0"/>
                <a:ea typeface="Epilogue" pitchFamily="34" charset="-122"/>
                <a:cs typeface="Epilogue" pitchFamily="34" charset="-120"/>
              </a:rPr>
              <a:t>Address compensation gaps in low salary bands</a:t>
            </a:r>
            <a:endParaRPr lang="en-US" sz="950" dirty="0"/>
          </a:p>
        </p:txBody>
      </p:sp>
      <p:pic>
        <p:nvPicPr>
          <p:cNvPr id="28" name="Image 7"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35178" y="4319067"/>
            <a:ext cx="4012704" cy="495300"/>
          </a:xfrm>
          <a:prstGeom prst="rect">
            <a:avLst/>
          </a:prstGeom>
        </p:spPr>
      </p:pic>
      <p:sp>
        <p:nvSpPr>
          <p:cNvPr id="29" name="Text 19"/>
          <p:cNvSpPr/>
          <p:nvPr/>
        </p:nvSpPr>
        <p:spPr>
          <a:xfrm>
            <a:off x="4802014" y="4333354"/>
            <a:ext cx="3845868" cy="193849"/>
          </a:xfrm>
          <a:prstGeom prst="rect">
            <a:avLst/>
          </a:prstGeom>
          <a:noFill/>
          <a:ln/>
        </p:spPr>
        <p:txBody>
          <a:bodyPr wrap="none" lIns="0" tIns="0" rIns="0" bIns="0" rtlCol="0" anchor="t"/>
          <a:lstStyle/>
          <a:p>
            <a:pPr marL="0" indent="0" algn="ctr">
              <a:lnSpc>
                <a:spcPct val="104000"/>
              </a:lnSpc>
              <a:buNone/>
            </a:pPr>
            <a:r>
              <a:rPr lang="en-US" sz="1200" dirty="0">
                <a:solidFill>
                  <a:srgbClr val="EBECEF"/>
                </a:solidFill>
                <a:latin typeface="Fraunces Medium" pitchFamily="34" charset="0"/>
                <a:ea typeface="Fraunces Medium" pitchFamily="34" charset="-122"/>
                <a:cs typeface="Fraunces Medium" pitchFamily="34" charset="-120"/>
              </a:rPr>
              <a:t>Focus on Sales Retention</a:t>
            </a:r>
            <a:endParaRPr lang="en-US" sz="1200" dirty="0"/>
          </a:p>
        </p:txBody>
      </p:sp>
      <p:sp>
        <p:nvSpPr>
          <p:cNvPr id="30" name="Text 20"/>
          <p:cNvSpPr/>
          <p:nvPr/>
        </p:nvSpPr>
        <p:spPr>
          <a:xfrm>
            <a:off x="4802014" y="4601617"/>
            <a:ext cx="3845868" cy="198462"/>
          </a:xfrm>
          <a:prstGeom prst="rect">
            <a:avLst/>
          </a:prstGeom>
          <a:noFill/>
          <a:ln/>
        </p:spPr>
        <p:txBody>
          <a:bodyPr wrap="none" lIns="0" tIns="0" rIns="0" bIns="0" rtlCol="0" anchor="t"/>
          <a:lstStyle/>
          <a:p>
            <a:pPr marL="0" indent="0" algn="ctr">
              <a:lnSpc>
                <a:spcPct val="133000"/>
              </a:lnSpc>
              <a:buNone/>
            </a:pPr>
            <a:r>
              <a:rPr lang="en-US" sz="950" dirty="0">
                <a:solidFill>
                  <a:srgbClr val="EBECEF"/>
                </a:solidFill>
                <a:latin typeface="Epilogue" pitchFamily="34" charset="0"/>
                <a:ea typeface="Epilogue" pitchFamily="34" charset="-122"/>
                <a:cs typeface="Epilogue" pitchFamily="34" charset="-120"/>
              </a:rPr>
              <a:t>Prioritize retention initiatives for Sales Representatives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name="Slide 10">
    <p:spTree>
      <p:nvGrpSpPr>
        <p:cNvPr id="1" name=""/>
        <p:cNvGrpSpPr/>
        <p:nvPr/>
      </p:nvGrpSpPr>
      <p:grpSpPr>
        <a:xfrm>
          <a:off x="0" y="0"/>
          <a:ext cx="0" cy="0"/>
          <a:chOff x="0" y="0"/>
          <a:chExt cx="0" cy="0"/>
        </a:xfrm>
      </p:grpSpPr>
      <p:sp>
        <p:nvSpPr>
          <p:cNvPr id="2" name="Text 0"/>
          <p:cNvSpPr/>
          <p:nvPr/>
        </p:nvSpPr>
        <p:spPr>
          <a:xfrm>
            <a:off x="496119" y="634826"/>
            <a:ext cx="8151763" cy="387548"/>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Fraunces Medium" pitchFamily="34" charset="0"/>
                <a:ea typeface="Fraunces Medium" pitchFamily="34" charset="-122"/>
                <a:cs typeface="Fraunces Medium" pitchFamily="34" charset="-120"/>
              </a:rPr>
              <a:t>Executive Takeaways</a:t>
            </a:r>
            <a:endParaRPr lang="en-US" sz="240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1270397"/>
            <a:ext cx="4013895" cy="1140172"/>
          </a:xfrm>
          <a:prstGeom prst="rect">
            <a:avLst/>
          </a:prstGeom>
        </p:spPr>
      </p:pic>
      <p:sp>
        <p:nvSpPr>
          <p:cNvPr id="4" name="Text 1"/>
          <p:cNvSpPr/>
          <p:nvPr/>
        </p:nvSpPr>
        <p:spPr>
          <a:xfrm>
            <a:off x="691530" y="1408658"/>
            <a:ext cx="3680222" cy="193849"/>
          </a:xfrm>
          <a:prstGeom prst="rect">
            <a:avLst/>
          </a:prstGeom>
          <a:noFill/>
          <a:ln/>
        </p:spPr>
        <p:txBody>
          <a:bodyPr wrap="none" lIns="0" tIns="0" rIns="0" bIns="0" rtlCol="0" anchor="t"/>
          <a:lstStyle/>
          <a:p>
            <a:pPr marL="0" indent="0" algn="l">
              <a:lnSpc>
                <a:spcPct val="104000"/>
              </a:lnSpc>
              <a:buNone/>
            </a:pPr>
            <a:r>
              <a:rPr lang="en-US" sz="1200" dirty="0">
                <a:solidFill>
                  <a:srgbClr val="EBECEF"/>
                </a:solidFill>
                <a:latin typeface="Fraunces Medium" pitchFamily="34" charset="0"/>
                <a:ea typeface="Fraunces Medium" pitchFamily="34" charset="-122"/>
                <a:cs typeface="Fraunces Medium" pitchFamily="34" charset="-120"/>
              </a:rPr>
              <a:t>Segmented Attrition</a:t>
            </a:r>
            <a:endParaRPr lang="en-US" sz="1200" dirty="0"/>
          </a:p>
        </p:txBody>
      </p:sp>
      <p:sp>
        <p:nvSpPr>
          <p:cNvPr id="5" name="Text 2"/>
          <p:cNvSpPr/>
          <p:nvPr/>
        </p:nvSpPr>
        <p:spPr>
          <a:xfrm>
            <a:off x="691530" y="1676921"/>
            <a:ext cx="368022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BECEF"/>
                </a:solidFill>
                <a:latin typeface="Epilogue" pitchFamily="34" charset="0"/>
                <a:ea typeface="Epilogue" pitchFamily="34" charset="-122"/>
                <a:cs typeface="Epilogue" pitchFamily="34" charset="-120"/>
              </a:rPr>
              <a:t>Employee attrition is concentrated within specific workforce segments rather than across the entire organization.</a:t>
            </a:r>
            <a:endParaRPr lang="en-US" sz="950" dirty="0"/>
          </a:p>
        </p:txBody>
      </p:sp>
      <p:pic>
        <p:nvPicPr>
          <p:cNvPr id="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33987" y="1270397"/>
            <a:ext cx="4013895" cy="1140172"/>
          </a:xfrm>
          <a:prstGeom prst="rect">
            <a:avLst/>
          </a:prstGeom>
        </p:spPr>
      </p:pic>
      <p:sp>
        <p:nvSpPr>
          <p:cNvPr id="7" name="Text 3"/>
          <p:cNvSpPr/>
          <p:nvPr/>
        </p:nvSpPr>
        <p:spPr>
          <a:xfrm>
            <a:off x="4829398" y="1408658"/>
            <a:ext cx="3680222" cy="193849"/>
          </a:xfrm>
          <a:prstGeom prst="rect">
            <a:avLst/>
          </a:prstGeom>
          <a:noFill/>
          <a:ln/>
        </p:spPr>
        <p:txBody>
          <a:bodyPr wrap="none" lIns="0" tIns="0" rIns="0" bIns="0" rtlCol="0" anchor="t"/>
          <a:lstStyle/>
          <a:p>
            <a:pPr marL="0" indent="0" algn="l">
              <a:lnSpc>
                <a:spcPct val="104000"/>
              </a:lnSpc>
              <a:buNone/>
            </a:pPr>
            <a:r>
              <a:rPr lang="en-US" sz="1200" dirty="0">
                <a:solidFill>
                  <a:srgbClr val="EBECEF"/>
                </a:solidFill>
                <a:latin typeface="Fraunces Medium" pitchFamily="34" charset="0"/>
                <a:ea typeface="Fraunces Medium" pitchFamily="34" charset="-122"/>
                <a:cs typeface="Fraunces Medium" pitchFamily="34" charset="-120"/>
              </a:rPr>
              <a:t>Primary Drivers</a:t>
            </a:r>
            <a:endParaRPr lang="en-US" sz="1200" dirty="0"/>
          </a:p>
        </p:txBody>
      </p:sp>
      <p:sp>
        <p:nvSpPr>
          <p:cNvPr id="8" name="Text 4"/>
          <p:cNvSpPr/>
          <p:nvPr/>
        </p:nvSpPr>
        <p:spPr>
          <a:xfrm>
            <a:off x="4829398" y="1676921"/>
            <a:ext cx="368022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BECEF"/>
                </a:solidFill>
                <a:latin typeface="Epilogue" pitchFamily="34" charset="0"/>
                <a:ea typeface="Epilogue" pitchFamily="34" charset="-122"/>
                <a:cs typeface="Epilogue" pitchFamily="34" charset="-120"/>
              </a:rPr>
              <a:t>The strongest attrition drivers are overtime, low job satisfaction, frequent business travel, and lower salary levels.</a:t>
            </a:r>
            <a:endParaRPr lang="en-US" sz="950" dirty="0"/>
          </a:p>
        </p:txBody>
      </p:sp>
      <p:pic>
        <p:nvPicPr>
          <p:cNvPr id="9"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2534543"/>
            <a:ext cx="4013895" cy="1140172"/>
          </a:xfrm>
          <a:prstGeom prst="rect">
            <a:avLst/>
          </a:prstGeom>
        </p:spPr>
      </p:pic>
      <p:sp>
        <p:nvSpPr>
          <p:cNvPr id="10" name="Text 5"/>
          <p:cNvSpPr/>
          <p:nvPr/>
        </p:nvSpPr>
        <p:spPr>
          <a:xfrm>
            <a:off x="691530" y="2672804"/>
            <a:ext cx="3680222" cy="193849"/>
          </a:xfrm>
          <a:prstGeom prst="rect">
            <a:avLst/>
          </a:prstGeom>
          <a:noFill/>
          <a:ln/>
        </p:spPr>
        <p:txBody>
          <a:bodyPr wrap="none" lIns="0" tIns="0" rIns="0" bIns="0" rtlCol="0" anchor="t"/>
          <a:lstStyle/>
          <a:p>
            <a:pPr marL="0" indent="0" algn="l">
              <a:lnSpc>
                <a:spcPct val="104000"/>
              </a:lnSpc>
              <a:buNone/>
            </a:pPr>
            <a:r>
              <a:rPr lang="en-US" sz="1200" dirty="0">
                <a:solidFill>
                  <a:srgbClr val="EBECEF"/>
                </a:solidFill>
                <a:latin typeface="Fraunces Medium" pitchFamily="34" charset="0"/>
                <a:ea typeface="Fraunces Medium" pitchFamily="34" charset="-122"/>
                <a:cs typeface="Fraunces Medium" pitchFamily="34" charset="-120"/>
              </a:rPr>
              <a:t>Early Intervention</a:t>
            </a:r>
            <a:endParaRPr lang="en-US" sz="1200" dirty="0"/>
          </a:p>
        </p:txBody>
      </p:sp>
      <p:sp>
        <p:nvSpPr>
          <p:cNvPr id="11" name="Text 6"/>
          <p:cNvSpPr/>
          <p:nvPr/>
        </p:nvSpPr>
        <p:spPr>
          <a:xfrm>
            <a:off x="691530" y="2941067"/>
            <a:ext cx="368022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BECEF"/>
                </a:solidFill>
                <a:latin typeface="Epilogue" pitchFamily="34" charset="0"/>
                <a:ea typeface="Epilogue" pitchFamily="34" charset="-122"/>
                <a:cs typeface="Epilogue" pitchFamily="34" charset="-120"/>
              </a:rPr>
              <a:t>The dashboard enables leadership to identify high-risk employee groups early and prioritize targeted retention strategies.</a:t>
            </a:r>
            <a:endParaRPr lang="en-US" sz="950" dirty="0"/>
          </a:p>
        </p:txBody>
      </p:sp>
      <p:pic>
        <p:nvPicPr>
          <p:cNvPr id="12"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33987" y="2534543"/>
            <a:ext cx="4013895" cy="1140172"/>
          </a:xfrm>
          <a:prstGeom prst="rect">
            <a:avLst/>
          </a:prstGeom>
        </p:spPr>
      </p:pic>
      <p:sp>
        <p:nvSpPr>
          <p:cNvPr id="13" name="Text 7"/>
          <p:cNvSpPr/>
          <p:nvPr/>
        </p:nvSpPr>
        <p:spPr>
          <a:xfrm>
            <a:off x="4829398" y="2672804"/>
            <a:ext cx="3680222" cy="193849"/>
          </a:xfrm>
          <a:prstGeom prst="rect">
            <a:avLst/>
          </a:prstGeom>
          <a:noFill/>
          <a:ln/>
        </p:spPr>
        <p:txBody>
          <a:bodyPr wrap="none" lIns="0" tIns="0" rIns="0" bIns="0" rtlCol="0" anchor="t"/>
          <a:lstStyle/>
          <a:p>
            <a:pPr marL="0" indent="0" algn="l">
              <a:lnSpc>
                <a:spcPct val="104000"/>
              </a:lnSpc>
              <a:buNone/>
            </a:pPr>
            <a:r>
              <a:rPr lang="en-US" sz="1200" dirty="0">
                <a:solidFill>
                  <a:srgbClr val="EBECEF"/>
                </a:solidFill>
                <a:latin typeface="Fraunces Medium" pitchFamily="34" charset="0"/>
                <a:ea typeface="Fraunces Medium" pitchFamily="34" charset="-122"/>
                <a:cs typeface="Fraunces Medium" pitchFamily="34" charset="-120"/>
              </a:rPr>
              <a:t>Secure Access</a:t>
            </a:r>
            <a:endParaRPr lang="en-US" sz="1200" dirty="0"/>
          </a:p>
        </p:txBody>
      </p:sp>
      <p:sp>
        <p:nvSpPr>
          <p:cNvPr id="14" name="Text 8"/>
          <p:cNvSpPr/>
          <p:nvPr/>
        </p:nvSpPr>
        <p:spPr>
          <a:xfrm>
            <a:off x="4829398" y="2941067"/>
            <a:ext cx="368022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BECEF"/>
                </a:solidFill>
                <a:latin typeface="Epilogue" pitchFamily="34" charset="0"/>
                <a:ea typeface="Epilogue" pitchFamily="34" charset="-122"/>
                <a:cs typeface="Epilogue" pitchFamily="34" charset="-120"/>
              </a:rPr>
              <a:t>Role-Based Security (RLS) ensures secure access by providing each stakeholder with the insights relevant to their responsibilities while protecting confidential HR data.</a:t>
            </a:r>
            <a:endParaRPr lang="en-US" sz="950" dirty="0"/>
          </a:p>
        </p:txBody>
      </p:sp>
      <p:sp>
        <p:nvSpPr>
          <p:cNvPr id="15" name="Shape 9"/>
          <p:cNvSpPr/>
          <p:nvPr/>
        </p:nvSpPr>
        <p:spPr>
          <a:xfrm>
            <a:off x="496119" y="3814242"/>
            <a:ext cx="8151763" cy="694432"/>
          </a:xfrm>
          <a:prstGeom prst="roundRect">
            <a:avLst>
              <a:gd name="adj" fmla="val 7502"/>
            </a:avLst>
          </a:prstGeom>
          <a:solidFill>
            <a:srgbClr val="283157"/>
          </a:solidFill>
          <a:ln/>
        </p:spPr>
      </p:sp>
      <p:pic>
        <p:nvPicPr>
          <p:cNvPr id="16" name="Image 4" descr="preencoded.png"/>
          <p:cNvPicPr>
            <a:picLocks noChangeAspect="1"/>
          </p:cNvPicPr>
          <p:nvPr/>
        </p:nvPicPr>
        <p:blipFill>
          <a:blip r:embed="rId5"/>
          <a:stretch>
            <a:fillRect/>
          </a:stretch>
        </p:blipFill>
        <p:spPr>
          <a:xfrm>
            <a:off x="620092" y="3994026"/>
            <a:ext cx="155004" cy="123974"/>
          </a:xfrm>
          <a:prstGeom prst="rect">
            <a:avLst/>
          </a:prstGeom>
        </p:spPr>
      </p:pic>
      <p:sp>
        <p:nvSpPr>
          <p:cNvPr id="17" name="Text 10"/>
          <p:cNvSpPr/>
          <p:nvPr/>
        </p:nvSpPr>
        <p:spPr>
          <a:xfrm>
            <a:off x="899071" y="3969172"/>
            <a:ext cx="762483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FFFFFF"/>
                </a:solidFill>
                <a:latin typeface="Epilogue" pitchFamily="34" charset="0"/>
                <a:ea typeface="Epilogue" pitchFamily="34" charset="-122"/>
                <a:cs typeface="Epilogue" pitchFamily="34" charset="-120"/>
              </a:rPr>
              <a:t>By transforming HR data into actionable insights, this dashboard empowers leadership to make proactive, evidence-based decisions that improve employee retention and strengthen organizational performance.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name="Slide 11">
    <p:spTree>
      <p:nvGrpSpPr>
        <p:cNvPr id="1" name=""/>
        <p:cNvGrpSpPr/>
        <p:nvPr/>
      </p:nvGrpSpPr>
      <p:grpSpPr>
        <a:xfrm>
          <a:off x="0" y="0"/>
          <a:ext cx="0" cy="0"/>
          <a:chOff x="0" y="0"/>
          <a:chExt cx="0" cy="0"/>
        </a:xfrm>
      </p:grpSpPr>
      <p:sp>
        <p:nvSpPr>
          <p:cNvPr id="2" name="Text 0"/>
          <p:cNvSpPr/>
          <p:nvPr/>
        </p:nvSpPr>
        <p:spPr>
          <a:xfrm>
            <a:off x="496119" y="985689"/>
            <a:ext cx="8151763" cy="387548"/>
          </a:xfrm>
          <a:prstGeom prst="rect">
            <a:avLst/>
          </a:prstGeom>
          <a:noFill/>
          <a:ln/>
        </p:spPr>
        <p:txBody>
          <a:bodyPr wrap="none" lIns="0" tIns="0" rIns="0" bIns="0" rtlCol="0" anchor="t"/>
          <a:lstStyle/>
          <a:p>
            <a:pPr marL="0" indent="0" algn="ctr">
              <a:lnSpc>
                <a:spcPct val="104000"/>
              </a:lnSpc>
              <a:buNone/>
            </a:pPr>
            <a:r>
              <a:rPr lang="en-US" sz="2400" dirty="0">
                <a:solidFill>
                  <a:srgbClr val="FFFFFF"/>
                </a:solidFill>
                <a:latin typeface="Fraunces Medium" pitchFamily="34" charset="0"/>
                <a:ea typeface="Fraunces Medium" pitchFamily="34" charset="-122"/>
                <a:cs typeface="Fraunces Medium" pitchFamily="34" charset="-120"/>
              </a:rPr>
              <a:t>Thank You</a:t>
            </a:r>
            <a:endParaRPr lang="en-US" sz="2400" dirty="0"/>
          </a:p>
        </p:txBody>
      </p:sp>
      <p:sp>
        <p:nvSpPr>
          <p:cNvPr id="3" name="Shape 1"/>
          <p:cNvSpPr/>
          <p:nvPr/>
        </p:nvSpPr>
        <p:spPr>
          <a:xfrm>
            <a:off x="496119" y="1559272"/>
            <a:ext cx="14288" cy="1922562"/>
          </a:xfrm>
          <a:prstGeom prst="roundRect">
            <a:avLst>
              <a:gd name="adj" fmla="val 59998"/>
            </a:avLst>
          </a:prstGeom>
          <a:solidFill>
            <a:srgbClr val="8C98CA"/>
          </a:solidFill>
          <a:ln/>
        </p:spPr>
      </p:sp>
      <p:sp>
        <p:nvSpPr>
          <p:cNvPr id="4" name="Text 2"/>
          <p:cNvSpPr/>
          <p:nvPr/>
        </p:nvSpPr>
        <p:spPr>
          <a:xfrm>
            <a:off x="682154" y="1745307"/>
            <a:ext cx="7965728" cy="1550491"/>
          </a:xfrm>
          <a:prstGeom prst="rect">
            <a:avLst/>
          </a:prstGeom>
          <a:noFill/>
          <a:ln/>
        </p:spPr>
        <p:txBody>
          <a:bodyPr wrap="square" lIns="0" tIns="0" rIns="0" bIns="0" rtlCol="0" anchor="t">
            <a:normAutofit/>
          </a:bodyPr>
          <a:lstStyle/>
          <a:p>
            <a:pPr marL="0" indent="0" algn="ctr">
              <a:lnSpc>
                <a:spcPct val="104000"/>
              </a:lnSpc>
              <a:buNone/>
            </a:pPr>
            <a:r>
              <a:rPr lang="en-US" sz="4850" dirty="0">
                <a:solidFill>
                  <a:srgbClr val="FFFFFF"/>
                </a:solidFill>
                <a:latin typeface="Fraunces Medium" pitchFamily="34" charset="0"/>
                <a:ea typeface="Fraunces Medium" pitchFamily="34" charset="-122"/>
                <a:cs typeface="Fraunces Medium" pitchFamily="34" charset="-120"/>
              </a:rPr>
              <a:t>“Better data leads to better people decisions.”</a:t>
            </a:r>
            <a:endParaRPr lang="en-US" sz="4850" dirty="0"/>
          </a:p>
        </p:txBody>
      </p:sp>
      <p:sp>
        <p:nvSpPr>
          <p:cNvPr id="5" name="Text 3"/>
          <p:cNvSpPr/>
          <p:nvPr/>
        </p:nvSpPr>
        <p:spPr>
          <a:xfrm>
            <a:off x="496119" y="3621360"/>
            <a:ext cx="8151763" cy="536451"/>
          </a:xfrm>
          <a:prstGeom prst="rect">
            <a:avLst/>
          </a:prstGeom>
          <a:noFill/>
          <a:ln/>
        </p:spPr>
        <p:txBody>
          <a:bodyPr wrap="square" lIns="0" tIns="0" rIns="0" bIns="0" rtlCol="0" anchor="t"/>
          <a:lstStyle/>
          <a:p>
            <a:pPr marL="0" indent="0" algn="ctr">
              <a:lnSpc>
                <a:spcPct val="133000"/>
              </a:lnSpc>
              <a:spcAft>
                <a:spcPts val="1050"/>
              </a:spcAft>
              <a:buNone/>
            </a:pPr>
            <a:r>
              <a:rPr lang="en-US" sz="950" b="1" dirty="0">
                <a:solidFill>
                  <a:srgbClr val="EBECEF"/>
                </a:solidFill>
                <a:latin typeface="Epilogue Bold" pitchFamily="34" charset="0"/>
                <a:ea typeface="Epilogue Bold" pitchFamily="34" charset="-122"/>
                <a:cs typeface="Epilogue Bold" pitchFamily="34" charset="-120"/>
              </a:rPr>
              <a:t>Questions &amp; Discussion</a:t>
            </a:r>
            <a:endParaRPr lang="en-US" sz="950" dirty="0"/>
          </a:p>
          <a:p>
            <a:pPr marL="0" indent="0" algn="ctr">
              <a:lnSpc>
                <a:spcPct val="133000"/>
              </a:lnSpc>
              <a:buNone/>
            </a:pPr>
            <a:r>
              <a:rPr lang="en-US" sz="950" dirty="0">
                <a:solidFill>
                  <a:srgbClr val="B08D57"/>
                </a:solidFill>
                <a:latin typeface="Epilogue" pitchFamily="34" charset="0"/>
                <a:ea typeface="Epilogue" pitchFamily="34" charset="-122"/>
                <a:cs typeface="Epilogue" pitchFamily="34" charset="-120"/>
              </a:rPr>
              <a:t>HR Attrition Analytics Dashboard</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636</Words>
  <Application>Microsoft Office PowerPoint</Application>
  <PresentationFormat>On-screen Show (16:9)</PresentationFormat>
  <Paragraphs>97</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Calibri</vt:lpstr>
      <vt:lpstr>Epilogue</vt:lpstr>
      <vt:lpstr>Epilogue Bold</vt:lpstr>
      <vt:lpstr>Fraunces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HP</cp:lastModifiedBy>
  <cp:revision>3</cp:revision>
  <dcterms:created xsi:type="dcterms:W3CDTF">2026-07-23T01:39:38Z</dcterms:created>
  <dcterms:modified xsi:type="dcterms:W3CDTF">2026-07-23T01:50:40Z</dcterms:modified>
</cp:coreProperties>
</file>